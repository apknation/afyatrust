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oboto" charset="1" panose="02000000000000000000"/>
      <p:regular r:id="rId17"/>
    </p:embeddedFont>
    <p:embeddedFont>
      <p:font typeface="Open Sans" charset="1" panose="00000000000000000000"/>
      <p:regular r:id="rId18"/>
    </p:embeddedFont>
    <p:embeddedFont>
      <p:font typeface="Open Sauce" charset="1" panose="00000500000000000000"/>
      <p:regular r:id="rId19"/>
    </p:embeddedFont>
    <p:embeddedFont>
      <p:font typeface="Open Sans Bold" charset="1" panose="00000000000000000000"/>
      <p:regular r:id="rId20"/>
    </p:embeddedFont>
    <p:embeddedFont>
      <p:font typeface="Poppin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4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.png" Type="http://schemas.openxmlformats.org/officeDocument/2006/relationships/image"/><Relationship Id="rId7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77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11867" y="7555357"/>
            <a:ext cx="19511734" cy="5463285"/>
          </a:xfrm>
          <a:custGeom>
            <a:avLst/>
            <a:gdLst/>
            <a:ahLst/>
            <a:cxnLst/>
            <a:rect r="r" b="b" t="t" l="l"/>
            <a:pathLst>
              <a:path h="5463285" w="19511734">
                <a:moveTo>
                  <a:pt x="0" y="0"/>
                </a:moveTo>
                <a:lnTo>
                  <a:pt x="19511734" y="0"/>
                </a:lnTo>
                <a:lnTo>
                  <a:pt x="19511734" y="5463286"/>
                </a:lnTo>
                <a:lnTo>
                  <a:pt x="0" y="546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405526" cy="2802555"/>
          </a:xfrm>
          <a:custGeom>
            <a:avLst/>
            <a:gdLst/>
            <a:ahLst/>
            <a:cxnLst/>
            <a:rect r="r" b="b" t="t" l="l"/>
            <a:pathLst>
              <a:path h="2802555" w="2405526">
                <a:moveTo>
                  <a:pt x="0" y="0"/>
                </a:moveTo>
                <a:lnTo>
                  <a:pt x="2405526" y="0"/>
                </a:lnTo>
                <a:lnTo>
                  <a:pt x="2405526" y="2802555"/>
                </a:lnTo>
                <a:lnTo>
                  <a:pt x="0" y="2802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90595" y="58629"/>
            <a:ext cx="2797405" cy="2685297"/>
          </a:xfrm>
          <a:custGeom>
            <a:avLst/>
            <a:gdLst/>
            <a:ahLst/>
            <a:cxnLst/>
            <a:rect r="r" b="b" t="t" l="l"/>
            <a:pathLst>
              <a:path h="2685297" w="2797405">
                <a:moveTo>
                  <a:pt x="0" y="0"/>
                </a:moveTo>
                <a:lnTo>
                  <a:pt x="2797405" y="0"/>
                </a:lnTo>
                <a:lnTo>
                  <a:pt x="2797405" y="2685297"/>
                </a:lnTo>
                <a:lnTo>
                  <a:pt x="0" y="268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175" r="0" b="-199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96577" y="6661841"/>
            <a:ext cx="12660790" cy="599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1"/>
              </a:lnSpc>
            </a:pPr>
            <a:r>
              <a:rPr lang="en-US" sz="33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NAME:ATANASI PATRICK KAFUKA</a:t>
            </a:r>
          </a:p>
          <a:p>
            <a:pPr algn="ctr">
              <a:lnSpc>
                <a:spcPts val="214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540616" y="1633959"/>
            <a:ext cx="13043308" cy="165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BLOCKCHAIN-BASED PATIENT RECORD ACCESS AND AUDIT LAYER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72631" y="4440742"/>
            <a:ext cx="9330002" cy="96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2F3F8B"/>
                </a:solidFill>
                <a:latin typeface="Open Sans"/>
                <a:ea typeface="Open Sans"/>
                <a:cs typeface="Open Sans"/>
                <a:sym typeface="Open Sans"/>
              </a:rPr>
              <a:t>Project name:afyatrust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77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3645" y="22709"/>
            <a:ext cx="2584140" cy="2584140"/>
          </a:xfrm>
          <a:custGeom>
            <a:avLst/>
            <a:gdLst/>
            <a:ahLst/>
            <a:cxnLst/>
            <a:rect r="r" b="b" t="t" l="l"/>
            <a:pathLst>
              <a:path h="2584140" w="2584140">
                <a:moveTo>
                  <a:pt x="0" y="0"/>
                </a:moveTo>
                <a:lnTo>
                  <a:pt x="2584140" y="0"/>
                </a:lnTo>
                <a:lnTo>
                  <a:pt x="2584140" y="2584140"/>
                </a:lnTo>
                <a:lnTo>
                  <a:pt x="0" y="258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092" y="22709"/>
            <a:ext cx="2405526" cy="2802555"/>
          </a:xfrm>
          <a:custGeom>
            <a:avLst/>
            <a:gdLst/>
            <a:ahLst/>
            <a:cxnLst/>
            <a:rect r="r" b="b" t="t" l="l"/>
            <a:pathLst>
              <a:path h="2802555" w="2405526">
                <a:moveTo>
                  <a:pt x="0" y="0"/>
                </a:moveTo>
                <a:lnTo>
                  <a:pt x="2405526" y="0"/>
                </a:lnTo>
                <a:lnTo>
                  <a:pt x="2405526" y="2802555"/>
                </a:lnTo>
                <a:lnTo>
                  <a:pt x="0" y="2802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06436" y="684397"/>
            <a:ext cx="5230750" cy="100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84066" y="3422887"/>
            <a:ext cx="10013684" cy="521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  <a:spcBef>
                <a:spcPct val="0"/>
              </a:spcBef>
            </a:pPr>
            <a:r>
              <a:rPr lang="en-US" b="true" sz="3084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Patient records stop at the hospital door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39333" y="4731792"/>
            <a:ext cx="5835567" cy="2980920"/>
            <a:chOff x="0" y="0"/>
            <a:chExt cx="7780756" cy="397456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555454" cy="3974560"/>
              <a:chOff x="0" y="0"/>
              <a:chExt cx="812800" cy="58150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581505"/>
              </a:xfrm>
              <a:custGeom>
                <a:avLst/>
                <a:gdLst/>
                <a:ahLst/>
                <a:cxnLst/>
                <a:rect r="r" b="b" t="t" l="l"/>
                <a:pathLst>
                  <a:path h="581505" w="812800">
                    <a:moveTo>
                      <a:pt x="42736" y="0"/>
                    </a:moveTo>
                    <a:lnTo>
                      <a:pt x="770064" y="0"/>
                    </a:lnTo>
                    <a:cubicBezTo>
                      <a:pt x="781398" y="0"/>
                      <a:pt x="792268" y="4503"/>
                      <a:pt x="800283" y="12517"/>
                    </a:cubicBezTo>
                    <a:cubicBezTo>
                      <a:pt x="808297" y="20532"/>
                      <a:pt x="812800" y="31402"/>
                      <a:pt x="812800" y="42736"/>
                    </a:cubicBezTo>
                    <a:lnTo>
                      <a:pt x="812800" y="538768"/>
                    </a:lnTo>
                    <a:cubicBezTo>
                      <a:pt x="812800" y="550103"/>
                      <a:pt x="808297" y="560973"/>
                      <a:pt x="800283" y="568987"/>
                    </a:cubicBezTo>
                    <a:cubicBezTo>
                      <a:pt x="792268" y="577002"/>
                      <a:pt x="781398" y="581505"/>
                      <a:pt x="770064" y="581505"/>
                    </a:cubicBezTo>
                    <a:lnTo>
                      <a:pt x="42736" y="581505"/>
                    </a:lnTo>
                    <a:cubicBezTo>
                      <a:pt x="31402" y="581505"/>
                      <a:pt x="20532" y="577002"/>
                      <a:pt x="12517" y="568987"/>
                    </a:cubicBezTo>
                    <a:cubicBezTo>
                      <a:pt x="4503" y="560973"/>
                      <a:pt x="0" y="550103"/>
                      <a:pt x="0" y="538768"/>
                    </a:cubicBezTo>
                    <a:lnTo>
                      <a:pt x="0" y="42736"/>
                    </a:lnTo>
                    <a:cubicBezTo>
                      <a:pt x="0" y="31402"/>
                      <a:pt x="4503" y="20532"/>
                      <a:pt x="12517" y="12517"/>
                    </a:cubicBezTo>
                    <a:cubicBezTo>
                      <a:pt x="20532" y="4503"/>
                      <a:pt x="31402" y="0"/>
                      <a:pt x="42736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785596" y="441306"/>
              <a:ext cx="6995160" cy="8365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319"/>
                </a:lnSpc>
                <a:spcBef>
                  <a:spcPct val="0"/>
                </a:spcBef>
              </a:pPr>
              <a:r>
                <a:rPr lang="en-US" sz="3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FRAGMENTED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50005" y="1518372"/>
              <a:ext cx="6283199" cy="1939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Each facility keeps its own</a:t>
              </a:r>
            </a:p>
            <a:p>
              <a:pPr algn="just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records, so a patient's history</a:t>
              </a:r>
            </a:p>
            <a:p>
              <a:pPr algn="just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is hard to reach elsewhere.</a:t>
              </a:r>
            </a:p>
            <a:p>
              <a:pPr algn="just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Treatment is delayed and</a:t>
              </a:r>
            </a:p>
            <a:p>
              <a:pPr algn="just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tests get repeated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30809" y="4731792"/>
            <a:ext cx="4793045" cy="2980920"/>
            <a:chOff x="0" y="0"/>
            <a:chExt cx="6390726" cy="397456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555454" cy="3974560"/>
              <a:chOff x="0" y="0"/>
              <a:chExt cx="812800" cy="58150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581505"/>
              </a:xfrm>
              <a:custGeom>
                <a:avLst/>
                <a:gdLst/>
                <a:ahLst/>
                <a:cxnLst/>
                <a:rect r="r" b="b" t="t" l="l"/>
                <a:pathLst>
                  <a:path h="581505" w="812800">
                    <a:moveTo>
                      <a:pt x="42736" y="0"/>
                    </a:moveTo>
                    <a:lnTo>
                      <a:pt x="770064" y="0"/>
                    </a:lnTo>
                    <a:cubicBezTo>
                      <a:pt x="781398" y="0"/>
                      <a:pt x="792268" y="4503"/>
                      <a:pt x="800283" y="12517"/>
                    </a:cubicBezTo>
                    <a:cubicBezTo>
                      <a:pt x="808297" y="20532"/>
                      <a:pt x="812800" y="31402"/>
                      <a:pt x="812800" y="42736"/>
                    </a:cubicBezTo>
                    <a:lnTo>
                      <a:pt x="812800" y="538768"/>
                    </a:lnTo>
                    <a:cubicBezTo>
                      <a:pt x="812800" y="550103"/>
                      <a:pt x="808297" y="560973"/>
                      <a:pt x="800283" y="568987"/>
                    </a:cubicBezTo>
                    <a:cubicBezTo>
                      <a:pt x="792268" y="577002"/>
                      <a:pt x="781398" y="581505"/>
                      <a:pt x="770064" y="581505"/>
                    </a:cubicBezTo>
                    <a:lnTo>
                      <a:pt x="42736" y="581505"/>
                    </a:lnTo>
                    <a:cubicBezTo>
                      <a:pt x="31402" y="581505"/>
                      <a:pt x="20532" y="577002"/>
                      <a:pt x="12517" y="568987"/>
                    </a:cubicBezTo>
                    <a:cubicBezTo>
                      <a:pt x="4503" y="560973"/>
                      <a:pt x="0" y="550103"/>
                      <a:pt x="0" y="538768"/>
                    </a:cubicBezTo>
                    <a:lnTo>
                      <a:pt x="0" y="42736"/>
                    </a:lnTo>
                    <a:cubicBezTo>
                      <a:pt x="0" y="31402"/>
                      <a:pt x="4503" y="20532"/>
                      <a:pt x="12517" y="12517"/>
                    </a:cubicBezTo>
                    <a:cubicBezTo>
                      <a:pt x="20532" y="4503"/>
                      <a:pt x="31402" y="0"/>
                      <a:pt x="42736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672675" y="92591"/>
              <a:ext cx="5718052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  <a:spcBef>
                  <a:spcPct val="0"/>
                </a:spcBef>
              </a:pPr>
              <a:r>
                <a:rPr lang="en-US" sz="3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Opaque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72675" y="1003366"/>
              <a:ext cx="5718052" cy="1939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It is difficult to see who</a:t>
              </a:r>
            </a:p>
            <a:p>
              <a:pPr algn="l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opened a record and when,</a:t>
              </a:r>
            </a:p>
            <a:p>
              <a:pPr algn="l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and access histories are</a:t>
              </a:r>
            </a:p>
            <a:p>
              <a:pPr algn="l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hard to keep consistent</a:t>
              </a:r>
            </a:p>
            <a:p>
              <a:pPr algn="l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across facilities.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281797" y="4731792"/>
            <a:ext cx="4646075" cy="2980920"/>
            <a:chOff x="0" y="0"/>
            <a:chExt cx="6194767" cy="397456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555454" cy="3974560"/>
              <a:chOff x="0" y="0"/>
              <a:chExt cx="812800" cy="58150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581505"/>
              </a:xfrm>
              <a:custGeom>
                <a:avLst/>
                <a:gdLst/>
                <a:ahLst/>
                <a:cxnLst/>
                <a:rect r="r" b="b" t="t" l="l"/>
                <a:pathLst>
                  <a:path h="581505" w="812800">
                    <a:moveTo>
                      <a:pt x="42736" y="0"/>
                    </a:moveTo>
                    <a:lnTo>
                      <a:pt x="770064" y="0"/>
                    </a:lnTo>
                    <a:cubicBezTo>
                      <a:pt x="781398" y="0"/>
                      <a:pt x="792268" y="4503"/>
                      <a:pt x="800283" y="12517"/>
                    </a:cubicBezTo>
                    <a:cubicBezTo>
                      <a:pt x="808297" y="20532"/>
                      <a:pt x="812800" y="31402"/>
                      <a:pt x="812800" y="42736"/>
                    </a:cubicBezTo>
                    <a:lnTo>
                      <a:pt x="812800" y="538768"/>
                    </a:lnTo>
                    <a:cubicBezTo>
                      <a:pt x="812800" y="550103"/>
                      <a:pt x="808297" y="560973"/>
                      <a:pt x="800283" y="568987"/>
                    </a:cubicBezTo>
                    <a:cubicBezTo>
                      <a:pt x="792268" y="577002"/>
                      <a:pt x="781398" y="581505"/>
                      <a:pt x="770064" y="581505"/>
                    </a:cubicBezTo>
                    <a:lnTo>
                      <a:pt x="42736" y="581505"/>
                    </a:lnTo>
                    <a:cubicBezTo>
                      <a:pt x="31402" y="581505"/>
                      <a:pt x="20532" y="577002"/>
                      <a:pt x="12517" y="568987"/>
                    </a:cubicBezTo>
                    <a:cubicBezTo>
                      <a:pt x="4503" y="560973"/>
                      <a:pt x="0" y="550103"/>
                      <a:pt x="0" y="538768"/>
                    </a:cubicBezTo>
                    <a:lnTo>
                      <a:pt x="0" y="42736"/>
                    </a:lnTo>
                    <a:cubicBezTo>
                      <a:pt x="0" y="31402"/>
                      <a:pt x="4503" y="20532"/>
                      <a:pt x="12517" y="12517"/>
                    </a:cubicBezTo>
                    <a:cubicBezTo>
                      <a:pt x="20532" y="4503"/>
                      <a:pt x="31402" y="0"/>
                      <a:pt x="42736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639312" y="92591"/>
              <a:ext cx="5555454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19"/>
                </a:lnSpc>
                <a:spcBef>
                  <a:spcPct val="0"/>
                </a:spcBef>
              </a:pPr>
              <a:r>
                <a:rPr lang="en-US" sz="37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At risk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39312" y="1235843"/>
              <a:ext cx="5555454" cy="1939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Medical data is highly</a:t>
              </a:r>
            </a:p>
            <a:p>
              <a:pPr algn="l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sensitive. Unauthorized</a:t>
              </a:r>
            </a:p>
            <a:p>
              <a:pPr algn="l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access is a real privacy risk</a:t>
              </a:r>
            </a:p>
            <a:p>
              <a:pPr algn="l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when controls and audit trails</a:t>
              </a:r>
            </a:p>
            <a:p>
              <a:pPr algn="l">
                <a:lnSpc>
                  <a:spcPts val="2379"/>
                </a:lnSpc>
                <a:spcBef>
                  <a:spcPct val="0"/>
                </a:spcBef>
              </a:pPr>
              <a:r>
                <a:rPr lang="en-US" sz="1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are weak.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77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22258" y="3942304"/>
            <a:ext cx="5537042" cy="6344696"/>
            <a:chOff x="0" y="0"/>
            <a:chExt cx="7382722" cy="845959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1886" r="0" b="1770"/>
            <a:stretch>
              <a:fillRect/>
            </a:stretch>
          </p:blipFill>
          <p:spPr>
            <a:xfrm flipH="false" flipV="false">
              <a:off x="0" y="0"/>
              <a:ext cx="7382722" cy="8459594"/>
            </a:xfrm>
            <a:prstGeom prst="rect">
              <a:avLst/>
            </a:prstGeom>
          </p:spPr>
        </p:pic>
      </p:grpSp>
      <p:sp>
        <p:nvSpPr>
          <p:cNvPr name="AutoShape 4" id="4"/>
          <p:cNvSpPr/>
          <p:nvPr/>
        </p:nvSpPr>
        <p:spPr>
          <a:xfrm>
            <a:off x="2965890" y="6439724"/>
            <a:ext cx="6947678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6535631" y="4980125"/>
            <a:ext cx="85067" cy="3105544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339429" y="190614"/>
            <a:ext cx="2872465" cy="2802092"/>
          </a:xfrm>
          <a:custGeom>
            <a:avLst/>
            <a:gdLst/>
            <a:ahLst/>
            <a:cxnLst/>
            <a:rect r="r" b="b" t="t" l="l"/>
            <a:pathLst>
              <a:path h="2802092" w="2872465">
                <a:moveTo>
                  <a:pt x="0" y="0"/>
                </a:moveTo>
                <a:lnTo>
                  <a:pt x="2872465" y="0"/>
                </a:lnTo>
                <a:lnTo>
                  <a:pt x="2872465" y="2802092"/>
                </a:lnTo>
                <a:lnTo>
                  <a:pt x="0" y="2802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69" r="0" b="-134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09" y="0"/>
            <a:ext cx="2405526" cy="2802555"/>
          </a:xfrm>
          <a:custGeom>
            <a:avLst/>
            <a:gdLst/>
            <a:ahLst/>
            <a:cxnLst/>
            <a:rect r="r" b="b" t="t" l="l"/>
            <a:pathLst>
              <a:path h="2802555" w="2405526">
                <a:moveTo>
                  <a:pt x="0" y="0"/>
                </a:moveTo>
                <a:lnTo>
                  <a:pt x="2405526" y="0"/>
                </a:lnTo>
                <a:lnTo>
                  <a:pt x="2405526" y="2802555"/>
                </a:lnTo>
                <a:lnTo>
                  <a:pt x="0" y="2802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118454" y="3617577"/>
            <a:ext cx="3041105" cy="2598309"/>
            <a:chOff x="0" y="0"/>
            <a:chExt cx="4054807" cy="346441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842188" cy="3464412"/>
              <a:chOff x="0" y="0"/>
              <a:chExt cx="901431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143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01432">
                    <a:moveTo>
                      <a:pt x="61793" y="0"/>
                    </a:moveTo>
                    <a:lnTo>
                      <a:pt x="839639" y="0"/>
                    </a:lnTo>
                    <a:cubicBezTo>
                      <a:pt x="856027" y="0"/>
                      <a:pt x="871744" y="6510"/>
                      <a:pt x="883333" y="18099"/>
                    </a:cubicBezTo>
                    <a:cubicBezTo>
                      <a:pt x="894921" y="29687"/>
                      <a:pt x="901432" y="45404"/>
                      <a:pt x="901432" y="61793"/>
                    </a:cubicBezTo>
                    <a:lnTo>
                      <a:pt x="901432" y="751007"/>
                    </a:lnTo>
                    <a:cubicBezTo>
                      <a:pt x="901432" y="785134"/>
                      <a:pt x="873766" y="812800"/>
                      <a:pt x="839639" y="812800"/>
                    </a:cubicBezTo>
                    <a:lnTo>
                      <a:pt x="61793" y="812800"/>
                    </a:lnTo>
                    <a:cubicBezTo>
                      <a:pt x="45404" y="812800"/>
                      <a:pt x="29687" y="806290"/>
                      <a:pt x="18099" y="794701"/>
                    </a:cubicBezTo>
                    <a:cubicBezTo>
                      <a:pt x="6510" y="783113"/>
                      <a:pt x="0" y="767396"/>
                      <a:pt x="0" y="751007"/>
                    </a:cubicBezTo>
                    <a:lnTo>
                      <a:pt x="0" y="61793"/>
                    </a:lnTo>
                    <a:cubicBezTo>
                      <a:pt x="0" y="45404"/>
                      <a:pt x="6510" y="29687"/>
                      <a:pt x="18099" y="18099"/>
                    </a:cubicBezTo>
                    <a:cubicBezTo>
                      <a:pt x="29687" y="6510"/>
                      <a:pt x="45404" y="0"/>
                      <a:pt x="61793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212619" y="218452"/>
              <a:ext cx="384218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LAYER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12619" y="817991"/>
              <a:ext cx="384218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53804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Web app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12619" y="1341337"/>
              <a:ext cx="3842188" cy="1234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Angular interface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for patients, doctors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and admins.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27406" y="3617577"/>
            <a:ext cx="3147978" cy="2598309"/>
            <a:chOff x="0" y="0"/>
            <a:chExt cx="4197304" cy="346441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355117" y="0"/>
              <a:ext cx="3842188" cy="3464412"/>
              <a:chOff x="0" y="0"/>
              <a:chExt cx="901431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0143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01432">
                    <a:moveTo>
                      <a:pt x="61793" y="0"/>
                    </a:moveTo>
                    <a:lnTo>
                      <a:pt x="839639" y="0"/>
                    </a:lnTo>
                    <a:cubicBezTo>
                      <a:pt x="856027" y="0"/>
                      <a:pt x="871744" y="6510"/>
                      <a:pt x="883333" y="18099"/>
                    </a:cubicBezTo>
                    <a:cubicBezTo>
                      <a:pt x="894921" y="29687"/>
                      <a:pt x="901432" y="45404"/>
                      <a:pt x="901432" y="61793"/>
                    </a:cubicBezTo>
                    <a:lnTo>
                      <a:pt x="901432" y="751007"/>
                    </a:lnTo>
                    <a:cubicBezTo>
                      <a:pt x="901432" y="785134"/>
                      <a:pt x="873766" y="812800"/>
                      <a:pt x="839639" y="812800"/>
                    </a:cubicBezTo>
                    <a:lnTo>
                      <a:pt x="61793" y="812800"/>
                    </a:lnTo>
                    <a:cubicBezTo>
                      <a:pt x="45404" y="812800"/>
                      <a:pt x="29687" y="806290"/>
                      <a:pt x="18099" y="794701"/>
                    </a:cubicBezTo>
                    <a:cubicBezTo>
                      <a:pt x="6510" y="783113"/>
                      <a:pt x="0" y="767396"/>
                      <a:pt x="0" y="751007"/>
                    </a:cubicBezTo>
                    <a:lnTo>
                      <a:pt x="0" y="61793"/>
                    </a:lnTo>
                    <a:cubicBezTo>
                      <a:pt x="0" y="45404"/>
                      <a:pt x="6510" y="29687"/>
                      <a:pt x="18099" y="18099"/>
                    </a:cubicBezTo>
                    <a:cubicBezTo>
                      <a:pt x="29687" y="6510"/>
                      <a:pt x="45404" y="0"/>
                      <a:pt x="61793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281285"/>
              <a:ext cx="384218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LAYER 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825473"/>
              <a:ext cx="384218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53804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API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08110" y="1329012"/>
              <a:ext cx="3842188" cy="1301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Django REST checks</a:t>
              </a: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login and permissions</a:t>
              </a: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before any record is</a:t>
              </a:r>
            </a:p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returned.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93743" y="6659991"/>
            <a:ext cx="3212561" cy="2598309"/>
            <a:chOff x="0" y="0"/>
            <a:chExt cx="4283415" cy="3464412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842188" cy="3464412"/>
              <a:chOff x="0" y="0"/>
              <a:chExt cx="901431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0143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01432">
                    <a:moveTo>
                      <a:pt x="61793" y="0"/>
                    </a:moveTo>
                    <a:lnTo>
                      <a:pt x="839639" y="0"/>
                    </a:lnTo>
                    <a:cubicBezTo>
                      <a:pt x="856027" y="0"/>
                      <a:pt x="871744" y="6510"/>
                      <a:pt x="883333" y="18099"/>
                    </a:cubicBezTo>
                    <a:cubicBezTo>
                      <a:pt x="894921" y="29687"/>
                      <a:pt x="901432" y="45404"/>
                      <a:pt x="901432" y="61793"/>
                    </a:cubicBezTo>
                    <a:lnTo>
                      <a:pt x="901432" y="751007"/>
                    </a:lnTo>
                    <a:cubicBezTo>
                      <a:pt x="901432" y="785134"/>
                      <a:pt x="873766" y="812800"/>
                      <a:pt x="839639" y="812800"/>
                    </a:cubicBezTo>
                    <a:lnTo>
                      <a:pt x="61793" y="812800"/>
                    </a:lnTo>
                    <a:cubicBezTo>
                      <a:pt x="45404" y="812800"/>
                      <a:pt x="29687" y="806290"/>
                      <a:pt x="18099" y="794701"/>
                    </a:cubicBezTo>
                    <a:cubicBezTo>
                      <a:pt x="6510" y="783113"/>
                      <a:pt x="0" y="767396"/>
                      <a:pt x="0" y="751007"/>
                    </a:cubicBezTo>
                    <a:lnTo>
                      <a:pt x="0" y="61793"/>
                    </a:lnTo>
                    <a:cubicBezTo>
                      <a:pt x="0" y="45404"/>
                      <a:pt x="6510" y="29687"/>
                      <a:pt x="18099" y="18099"/>
                    </a:cubicBezTo>
                    <a:cubicBezTo>
                      <a:pt x="29687" y="6510"/>
                      <a:pt x="45404" y="0"/>
                      <a:pt x="61793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441227" y="324538"/>
              <a:ext cx="384218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LAYER 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41227" y="988178"/>
              <a:ext cx="384218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53804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Database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41227" y="1647080"/>
              <a:ext cx="3842188" cy="971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PostgreSQL holds</a:t>
              </a:r>
            </a:p>
            <a:p>
              <a:pPr algn="l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clinical records</a:t>
              </a:r>
            </a:p>
            <a:p>
              <a:pPr algn="l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off-chain.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965890" y="6659991"/>
            <a:ext cx="3242820" cy="2598309"/>
            <a:chOff x="0" y="0"/>
            <a:chExt cx="4323760" cy="346441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842188" cy="3464412"/>
              <a:chOff x="0" y="0"/>
              <a:chExt cx="901431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0143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01432">
                    <a:moveTo>
                      <a:pt x="61793" y="0"/>
                    </a:moveTo>
                    <a:lnTo>
                      <a:pt x="839639" y="0"/>
                    </a:lnTo>
                    <a:cubicBezTo>
                      <a:pt x="856027" y="0"/>
                      <a:pt x="871744" y="6510"/>
                      <a:pt x="883333" y="18099"/>
                    </a:cubicBezTo>
                    <a:cubicBezTo>
                      <a:pt x="894921" y="29687"/>
                      <a:pt x="901432" y="45404"/>
                      <a:pt x="901432" y="61793"/>
                    </a:cubicBezTo>
                    <a:lnTo>
                      <a:pt x="901432" y="751007"/>
                    </a:lnTo>
                    <a:cubicBezTo>
                      <a:pt x="901432" y="785134"/>
                      <a:pt x="873766" y="812800"/>
                      <a:pt x="839639" y="812800"/>
                    </a:cubicBezTo>
                    <a:lnTo>
                      <a:pt x="61793" y="812800"/>
                    </a:lnTo>
                    <a:cubicBezTo>
                      <a:pt x="45404" y="812800"/>
                      <a:pt x="29687" y="806290"/>
                      <a:pt x="18099" y="794701"/>
                    </a:cubicBezTo>
                    <a:cubicBezTo>
                      <a:pt x="6510" y="783113"/>
                      <a:pt x="0" y="767396"/>
                      <a:pt x="0" y="751007"/>
                    </a:cubicBezTo>
                    <a:lnTo>
                      <a:pt x="0" y="61793"/>
                    </a:lnTo>
                    <a:cubicBezTo>
                      <a:pt x="0" y="45404"/>
                      <a:pt x="6510" y="29687"/>
                      <a:pt x="18099" y="18099"/>
                    </a:cubicBezTo>
                    <a:cubicBezTo>
                      <a:pt x="29687" y="6510"/>
                      <a:pt x="45404" y="0"/>
                      <a:pt x="61793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481572" y="314614"/>
              <a:ext cx="384218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LAYER 4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81572" y="825254"/>
              <a:ext cx="384218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53804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Blockchain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81572" y="1344179"/>
              <a:ext cx="3842188" cy="1301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Solidity contract on</a:t>
              </a:r>
            </a:p>
            <a:p>
              <a:pPr algn="l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Ethereum Sepolia</a:t>
              </a:r>
            </a:p>
            <a:p>
              <a:pPr algn="l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records permissions</a:t>
              </a:r>
            </a:p>
            <a:p>
              <a:pPr algn="l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and audit events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4049" y="9562740"/>
            <a:ext cx="375246" cy="375246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208710" y="670146"/>
            <a:ext cx="6459978" cy="105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en-US" sz="57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57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SOLUTION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3975" y="2570814"/>
            <a:ext cx="15978384" cy="639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Conventional systems plus a blockchain audit layer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0930" y="9577923"/>
            <a:ext cx="9162976" cy="30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Blockchain supports trust and auditability. It does not replace the secure database.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77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42334" y="0"/>
            <a:ext cx="3045666" cy="2918565"/>
          </a:xfrm>
          <a:custGeom>
            <a:avLst/>
            <a:gdLst/>
            <a:ahLst/>
            <a:cxnLst/>
            <a:rect r="r" b="b" t="t" l="l"/>
            <a:pathLst>
              <a:path h="2918565" w="3045666">
                <a:moveTo>
                  <a:pt x="0" y="0"/>
                </a:moveTo>
                <a:lnTo>
                  <a:pt x="3045666" y="0"/>
                </a:lnTo>
                <a:lnTo>
                  <a:pt x="3045666" y="2918565"/>
                </a:lnTo>
                <a:lnTo>
                  <a:pt x="0" y="2918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77" r="0" b="-21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16010"/>
            <a:ext cx="2405526" cy="2802555"/>
          </a:xfrm>
          <a:custGeom>
            <a:avLst/>
            <a:gdLst/>
            <a:ahLst/>
            <a:cxnLst/>
            <a:rect r="r" b="b" t="t" l="l"/>
            <a:pathLst>
              <a:path h="2802555" w="2405526">
                <a:moveTo>
                  <a:pt x="0" y="0"/>
                </a:moveTo>
                <a:lnTo>
                  <a:pt x="2405526" y="0"/>
                </a:lnTo>
                <a:lnTo>
                  <a:pt x="2405526" y="2802555"/>
                </a:lnTo>
                <a:lnTo>
                  <a:pt x="0" y="2802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40577" y="4162521"/>
            <a:ext cx="3154075" cy="2990614"/>
            <a:chOff x="0" y="0"/>
            <a:chExt cx="4205433" cy="398748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987486" cy="3987486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9541" y="0"/>
                    </a:moveTo>
                    <a:lnTo>
                      <a:pt x="753259" y="0"/>
                    </a:lnTo>
                    <a:cubicBezTo>
                      <a:pt x="769050" y="0"/>
                      <a:pt x="784195" y="6273"/>
                      <a:pt x="795361" y="17439"/>
                    </a:cubicBezTo>
                    <a:cubicBezTo>
                      <a:pt x="806527" y="28605"/>
                      <a:pt x="812800" y="43750"/>
                      <a:pt x="812800" y="59541"/>
                    </a:cubicBezTo>
                    <a:lnTo>
                      <a:pt x="812800" y="753259"/>
                    </a:lnTo>
                    <a:cubicBezTo>
                      <a:pt x="812800" y="769050"/>
                      <a:pt x="806527" y="784195"/>
                      <a:pt x="795361" y="795361"/>
                    </a:cubicBezTo>
                    <a:cubicBezTo>
                      <a:pt x="784195" y="806527"/>
                      <a:pt x="769050" y="812800"/>
                      <a:pt x="753259" y="812800"/>
                    </a:cubicBezTo>
                    <a:lnTo>
                      <a:pt x="59541" y="812800"/>
                    </a:lnTo>
                    <a:cubicBezTo>
                      <a:pt x="43750" y="812800"/>
                      <a:pt x="28605" y="806527"/>
                      <a:pt x="17439" y="795361"/>
                    </a:cubicBezTo>
                    <a:cubicBezTo>
                      <a:pt x="6273" y="784195"/>
                      <a:pt x="0" y="769050"/>
                      <a:pt x="0" y="753259"/>
                    </a:cubicBezTo>
                    <a:lnTo>
                      <a:pt x="0" y="59541"/>
                    </a:lnTo>
                    <a:cubicBezTo>
                      <a:pt x="0" y="43750"/>
                      <a:pt x="6273" y="28605"/>
                      <a:pt x="17439" y="17439"/>
                    </a:cubicBezTo>
                    <a:cubicBezTo>
                      <a:pt x="28605" y="6273"/>
                      <a:pt x="43750" y="0"/>
                      <a:pt x="59541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217947" y="331459"/>
              <a:ext cx="3987486" cy="440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53804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IDENTIFY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17947" y="963310"/>
              <a:ext cx="3725949" cy="12249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  <a:spcBef>
                  <a:spcPct val="0"/>
                </a:spcBef>
              </a:pPr>
              <a:r>
                <a:rPr lang="en-US" sz="1808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doctor at Hospital B</a:t>
              </a:r>
            </a:p>
            <a:p>
              <a:pPr algn="l">
                <a:lnSpc>
                  <a:spcPts val="2531"/>
                </a:lnSpc>
                <a:spcBef>
                  <a:spcPct val="0"/>
                </a:spcBef>
              </a:pPr>
              <a:r>
                <a:rPr lang="en-US" sz="1808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logs in and identifies the</a:t>
              </a:r>
            </a:p>
            <a:p>
              <a:pPr algn="l">
                <a:lnSpc>
                  <a:spcPts val="2531"/>
                </a:lnSpc>
                <a:spcBef>
                  <a:spcPct val="0"/>
                </a:spcBef>
              </a:pPr>
              <a:r>
                <a:rPr lang="en-US" sz="1808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patient by Health ID.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94652" y="4230876"/>
            <a:ext cx="3862404" cy="2990614"/>
            <a:chOff x="0" y="0"/>
            <a:chExt cx="5149872" cy="398748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23378" y="0"/>
              <a:ext cx="3987486" cy="398748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9541" y="0"/>
                    </a:moveTo>
                    <a:lnTo>
                      <a:pt x="753259" y="0"/>
                    </a:lnTo>
                    <a:cubicBezTo>
                      <a:pt x="769050" y="0"/>
                      <a:pt x="784195" y="6273"/>
                      <a:pt x="795361" y="17439"/>
                    </a:cubicBezTo>
                    <a:cubicBezTo>
                      <a:pt x="806527" y="28605"/>
                      <a:pt x="812800" y="43750"/>
                      <a:pt x="812800" y="59541"/>
                    </a:cubicBezTo>
                    <a:lnTo>
                      <a:pt x="812800" y="753259"/>
                    </a:lnTo>
                    <a:cubicBezTo>
                      <a:pt x="812800" y="769050"/>
                      <a:pt x="806527" y="784195"/>
                      <a:pt x="795361" y="795361"/>
                    </a:cubicBezTo>
                    <a:cubicBezTo>
                      <a:pt x="784195" y="806527"/>
                      <a:pt x="769050" y="812800"/>
                      <a:pt x="753259" y="812800"/>
                    </a:cubicBezTo>
                    <a:lnTo>
                      <a:pt x="59541" y="812800"/>
                    </a:lnTo>
                    <a:cubicBezTo>
                      <a:pt x="43750" y="812800"/>
                      <a:pt x="28605" y="806527"/>
                      <a:pt x="17439" y="795361"/>
                    </a:cubicBezTo>
                    <a:cubicBezTo>
                      <a:pt x="6273" y="784195"/>
                      <a:pt x="0" y="769050"/>
                      <a:pt x="0" y="753259"/>
                    </a:cubicBezTo>
                    <a:lnTo>
                      <a:pt x="0" y="59541"/>
                    </a:lnTo>
                    <a:cubicBezTo>
                      <a:pt x="0" y="43750"/>
                      <a:pt x="6273" y="28605"/>
                      <a:pt x="17439" y="17439"/>
                    </a:cubicBezTo>
                    <a:cubicBezTo>
                      <a:pt x="28605" y="6273"/>
                      <a:pt x="43750" y="0"/>
                      <a:pt x="59541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331677"/>
              <a:ext cx="3987486" cy="440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53804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PERMIT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162386" y="954003"/>
              <a:ext cx="3987486" cy="16539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backend checks the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patient's access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permission on the smart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contract.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21852" y="4230876"/>
            <a:ext cx="3671987" cy="2990614"/>
            <a:chOff x="0" y="0"/>
            <a:chExt cx="4895982" cy="398748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908496" y="0"/>
              <a:ext cx="3987486" cy="3987486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9541" y="0"/>
                    </a:moveTo>
                    <a:lnTo>
                      <a:pt x="753259" y="0"/>
                    </a:lnTo>
                    <a:cubicBezTo>
                      <a:pt x="769050" y="0"/>
                      <a:pt x="784195" y="6273"/>
                      <a:pt x="795361" y="17439"/>
                    </a:cubicBezTo>
                    <a:cubicBezTo>
                      <a:pt x="806527" y="28605"/>
                      <a:pt x="812800" y="43750"/>
                      <a:pt x="812800" y="59541"/>
                    </a:cubicBezTo>
                    <a:lnTo>
                      <a:pt x="812800" y="753259"/>
                    </a:lnTo>
                    <a:cubicBezTo>
                      <a:pt x="812800" y="769050"/>
                      <a:pt x="806527" y="784195"/>
                      <a:pt x="795361" y="795361"/>
                    </a:cubicBezTo>
                    <a:cubicBezTo>
                      <a:pt x="784195" y="806527"/>
                      <a:pt x="769050" y="812800"/>
                      <a:pt x="753259" y="812800"/>
                    </a:cubicBezTo>
                    <a:lnTo>
                      <a:pt x="59541" y="812800"/>
                    </a:lnTo>
                    <a:cubicBezTo>
                      <a:pt x="43750" y="812800"/>
                      <a:pt x="28605" y="806527"/>
                      <a:pt x="17439" y="795361"/>
                    </a:cubicBezTo>
                    <a:cubicBezTo>
                      <a:pt x="6273" y="784195"/>
                      <a:pt x="0" y="769050"/>
                      <a:pt x="0" y="753259"/>
                    </a:cubicBezTo>
                    <a:lnTo>
                      <a:pt x="0" y="59541"/>
                    </a:lnTo>
                    <a:cubicBezTo>
                      <a:pt x="0" y="43750"/>
                      <a:pt x="6273" y="28605"/>
                      <a:pt x="17439" y="17439"/>
                    </a:cubicBezTo>
                    <a:cubicBezTo>
                      <a:pt x="28605" y="6273"/>
                      <a:pt x="43750" y="0"/>
                      <a:pt x="59541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331894"/>
              <a:ext cx="3987486" cy="440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53804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RETRIEVE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191374" y="954221"/>
              <a:ext cx="3638770" cy="2073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If allowed, the record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comes from the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database or an approved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shared service.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80403" y="4230876"/>
            <a:ext cx="4123860" cy="2990614"/>
            <a:chOff x="0" y="0"/>
            <a:chExt cx="5498481" cy="398748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1131327" y="0"/>
              <a:ext cx="3987486" cy="3987486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59541" y="0"/>
                    </a:moveTo>
                    <a:lnTo>
                      <a:pt x="753259" y="0"/>
                    </a:lnTo>
                    <a:cubicBezTo>
                      <a:pt x="769050" y="0"/>
                      <a:pt x="784195" y="6273"/>
                      <a:pt x="795361" y="17439"/>
                    </a:cubicBezTo>
                    <a:cubicBezTo>
                      <a:pt x="806527" y="28605"/>
                      <a:pt x="812800" y="43750"/>
                      <a:pt x="812800" y="59541"/>
                    </a:cubicBezTo>
                    <a:lnTo>
                      <a:pt x="812800" y="753259"/>
                    </a:lnTo>
                    <a:cubicBezTo>
                      <a:pt x="812800" y="769050"/>
                      <a:pt x="806527" y="784195"/>
                      <a:pt x="795361" y="795361"/>
                    </a:cubicBezTo>
                    <a:cubicBezTo>
                      <a:pt x="784195" y="806527"/>
                      <a:pt x="769050" y="812800"/>
                      <a:pt x="753259" y="812800"/>
                    </a:cubicBezTo>
                    <a:lnTo>
                      <a:pt x="59541" y="812800"/>
                    </a:lnTo>
                    <a:cubicBezTo>
                      <a:pt x="43750" y="812800"/>
                      <a:pt x="28605" y="806527"/>
                      <a:pt x="17439" y="795361"/>
                    </a:cubicBezTo>
                    <a:cubicBezTo>
                      <a:pt x="6273" y="784195"/>
                      <a:pt x="0" y="769050"/>
                      <a:pt x="0" y="753259"/>
                    </a:cubicBezTo>
                    <a:lnTo>
                      <a:pt x="0" y="59541"/>
                    </a:lnTo>
                    <a:cubicBezTo>
                      <a:pt x="0" y="43750"/>
                      <a:pt x="6273" y="28605"/>
                      <a:pt x="17439" y="17439"/>
                    </a:cubicBezTo>
                    <a:cubicBezTo>
                      <a:pt x="28605" y="6273"/>
                      <a:pt x="43750" y="0"/>
                      <a:pt x="59541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332112"/>
              <a:ext cx="3987486" cy="440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53804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AUDIT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510995" y="1164038"/>
              <a:ext cx="3987486" cy="1234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access event is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recorded on-chain as a</a:t>
              </a:r>
            </a:p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tamper-evident entry.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974684" y="5354354"/>
            <a:ext cx="749252" cy="606948"/>
            <a:chOff x="0" y="0"/>
            <a:chExt cx="1003367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3367" cy="812800"/>
            </a:xfrm>
            <a:custGeom>
              <a:avLst/>
              <a:gdLst/>
              <a:ahLst/>
              <a:cxnLst/>
              <a:rect r="r" b="b" t="t" l="l"/>
              <a:pathLst>
                <a:path h="812800" w="1003367">
                  <a:moveTo>
                    <a:pt x="1003367" y="406400"/>
                  </a:moveTo>
                  <a:lnTo>
                    <a:pt x="596967" y="0"/>
                  </a:lnTo>
                  <a:lnTo>
                    <a:pt x="59696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596967" y="609600"/>
                  </a:lnTo>
                  <a:lnTo>
                    <a:pt x="596967" y="812800"/>
                  </a:lnTo>
                  <a:lnTo>
                    <a:pt x="1003367" y="406400"/>
                  </a:lnTo>
                  <a:close/>
                </a:path>
              </a:pathLst>
            </a:custGeom>
            <a:solidFill>
              <a:srgbClr val="77727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65100"/>
              <a:ext cx="90176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43386" y="5354354"/>
            <a:ext cx="879383" cy="606948"/>
            <a:chOff x="0" y="0"/>
            <a:chExt cx="1177633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7633" cy="812800"/>
            </a:xfrm>
            <a:custGeom>
              <a:avLst/>
              <a:gdLst/>
              <a:ahLst/>
              <a:cxnLst/>
              <a:rect r="r" b="b" t="t" l="l"/>
              <a:pathLst>
                <a:path h="812800" w="1177633">
                  <a:moveTo>
                    <a:pt x="1177633" y="406400"/>
                  </a:moveTo>
                  <a:lnTo>
                    <a:pt x="771233" y="0"/>
                  </a:lnTo>
                  <a:lnTo>
                    <a:pt x="771233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771233" y="609600"/>
                  </a:lnTo>
                  <a:lnTo>
                    <a:pt x="771233" y="812800"/>
                  </a:lnTo>
                  <a:lnTo>
                    <a:pt x="1177633" y="406400"/>
                  </a:lnTo>
                  <a:close/>
                </a:path>
              </a:pathLst>
            </a:custGeom>
            <a:solidFill>
              <a:srgbClr val="77727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165100"/>
              <a:ext cx="107603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144237" y="5422709"/>
            <a:ext cx="789855" cy="606948"/>
            <a:chOff x="0" y="0"/>
            <a:chExt cx="1057742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7742" cy="812800"/>
            </a:xfrm>
            <a:custGeom>
              <a:avLst/>
              <a:gdLst/>
              <a:ahLst/>
              <a:cxnLst/>
              <a:rect r="r" b="b" t="t" l="l"/>
              <a:pathLst>
                <a:path h="812800" w="1057742">
                  <a:moveTo>
                    <a:pt x="1057742" y="406400"/>
                  </a:moveTo>
                  <a:lnTo>
                    <a:pt x="651342" y="0"/>
                  </a:lnTo>
                  <a:lnTo>
                    <a:pt x="651342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651342" y="609600"/>
                  </a:lnTo>
                  <a:lnTo>
                    <a:pt x="651342" y="812800"/>
                  </a:lnTo>
                  <a:lnTo>
                    <a:pt x="1057742" y="406400"/>
                  </a:lnTo>
                  <a:close/>
                </a:path>
              </a:pathLst>
            </a:custGeom>
            <a:solidFill>
              <a:srgbClr val="77727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165100"/>
              <a:ext cx="95614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756599" y="8663279"/>
            <a:ext cx="544201" cy="285706"/>
          </a:xfrm>
          <a:custGeom>
            <a:avLst/>
            <a:gdLst/>
            <a:ahLst/>
            <a:cxnLst/>
            <a:rect r="r" b="b" t="t" l="l"/>
            <a:pathLst>
              <a:path h="285706" w="544201">
                <a:moveTo>
                  <a:pt x="0" y="0"/>
                </a:moveTo>
                <a:lnTo>
                  <a:pt x="544202" y="0"/>
                </a:lnTo>
                <a:lnTo>
                  <a:pt x="544202" y="285706"/>
                </a:lnTo>
                <a:lnTo>
                  <a:pt x="0" y="285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517614" y="1189042"/>
            <a:ext cx="10416479" cy="61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5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HOW IT WORKS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73610" y="2794170"/>
            <a:ext cx="8831806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 patient moves from Hospital A to Hospital B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00801" y="8691736"/>
            <a:ext cx="15154024" cy="25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blockchain does not move records between hospitals. Real data sharing needs compatible APIs, connectivity and a data-sharing agreement between facilities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77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64494" y="124836"/>
            <a:ext cx="2823506" cy="2743926"/>
          </a:xfrm>
          <a:custGeom>
            <a:avLst/>
            <a:gdLst/>
            <a:ahLst/>
            <a:cxnLst/>
            <a:rect r="r" b="b" t="t" l="l"/>
            <a:pathLst>
              <a:path h="2743926" w="2823506">
                <a:moveTo>
                  <a:pt x="0" y="0"/>
                </a:moveTo>
                <a:lnTo>
                  <a:pt x="2823506" y="0"/>
                </a:lnTo>
                <a:lnTo>
                  <a:pt x="2823506" y="2743926"/>
                </a:lnTo>
                <a:lnTo>
                  <a:pt x="0" y="2743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0" r="0" b="-14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302" y="66207"/>
            <a:ext cx="2405526" cy="2802555"/>
          </a:xfrm>
          <a:custGeom>
            <a:avLst/>
            <a:gdLst/>
            <a:ahLst/>
            <a:cxnLst/>
            <a:rect r="r" b="b" t="t" l="l"/>
            <a:pathLst>
              <a:path h="2802555" w="2405526">
                <a:moveTo>
                  <a:pt x="0" y="0"/>
                </a:moveTo>
                <a:lnTo>
                  <a:pt x="2405526" y="0"/>
                </a:lnTo>
                <a:lnTo>
                  <a:pt x="2405526" y="2802555"/>
                </a:lnTo>
                <a:lnTo>
                  <a:pt x="0" y="2802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1251" y="5651112"/>
            <a:ext cx="2216337" cy="1859057"/>
            <a:chOff x="0" y="0"/>
            <a:chExt cx="2955116" cy="247874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498" y="0"/>
              <a:ext cx="2954618" cy="2478743"/>
              <a:chOff x="0" y="0"/>
              <a:chExt cx="812800" cy="68188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681889"/>
              </a:xfrm>
              <a:custGeom>
                <a:avLst/>
                <a:gdLst/>
                <a:ahLst/>
                <a:cxnLst/>
                <a:rect r="r" b="b" t="t" l="l"/>
                <a:pathLst>
                  <a:path h="681889" w="812800">
                    <a:moveTo>
                      <a:pt x="80355" y="0"/>
                    </a:moveTo>
                    <a:lnTo>
                      <a:pt x="732445" y="0"/>
                    </a:lnTo>
                    <a:cubicBezTo>
                      <a:pt x="776824" y="0"/>
                      <a:pt x="812800" y="35976"/>
                      <a:pt x="812800" y="80355"/>
                    </a:cubicBezTo>
                    <a:lnTo>
                      <a:pt x="812800" y="601534"/>
                    </a:lnTo>
                    <a:cubicBezTo>
                      <a:pt x="812800" y="622845"/>
                      <a:pt x="804334" y="643284"/>
                      <a:pt x="789265" y="658354"/>
                    </a:cubicBezTo>
                    <a:cubicBezTo>
                      <a:pt x="774195" y="673423"/>
                      <a:pt x="753756" y="681889"/>
                      <a:pt x="732445" y="681889"/>
                    </a:cubicBezTo>
                    <a:lnTo>
                      <a:pt x="80355" y="681889"/>
                    </a:lnTo>
                    <a:cubicBezTo>
                      <a:pt x="35976" y="681889"/>
                      <a:pt x="0" y="645913"/>
                      <a:pt x="0" y="601534"/>
                    </a:cubicBezTo>
                    <a:lnTo>
                      <a:pt x="0" y="80355"/>
                    </a:lnTo>
                    <a:cubicBezTo>
                      <a:pt x="0" y="35976"/>
                      <a:pt x="35976" y="0"/>
                      <a:pt x="80355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229097"/>
              <a:ext cx="2664520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2519"/>
                </a:lnSpc>
                <a:spcBef>
                  <a:spcPct val="0"/>
                </a:spcBef>
                <a:buAutoNum type="arabicPeriod" startAt="1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registerPatient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37327" y="979886"/>
              <a:ext cx="2717789" cy="815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Registers a patient on-chain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15900" y="5651112"/>
            <a:ext cx="2281348" cy="1859057"/>
            <a:chOff x="0" y="0"/>
            <a:chExt cx="3041797" cy="247874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954618" cy="2478743"/>
              <a:chOff x="0" y="0"/>
              <a:chExt cx="812800" cy="68188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681889"/>
              </a:xfrm>
              <a:custGeom>
                <a:avLst/>
                <a:gdLst/>
                <a:ahLst/>
                <a:cxnLst/>
                <a:rect r="r" b="b" t="t" l="l"/>
                <a:pathLst>
                  <a:path h="681889" w="812800">
                    <a:moveTo>
                      <a:pt x="80355" y="0"/>
                    </a:moveTo>
                    <a:lnTo>
                      <a:pt x="732445" y="0"/>
                    </a:lnTo>
                    <a:cubicBezTo>
                      <a:pt x="776824" y="0"/>
                      <a:pt x="812800" y="35976"/>
                      <a:pt x="812800" y="80355"/>
                    </a:cubicBezTo>
                    <a:lnTo>
                      <a:pt x="812800" y="601534"/>
                    </a:lnTo>
                    <a:cubicBezTo>
                      <a:pt x="812800" y="622845"/>
                      <a:pt x="804334" y="643284"/>
                      <a:pt x="789265" y="658354"/>
                    </a:cubicBezTo>
                    <a:cubicBezTo>
                      <a:pt x="774195" y="673423"/>
                      <a:pt x="753756" y="681889"/>
                      <a:pt x="732445" y="681889"/>
                    </a:cubicBezTo>
                    <a:lnTo>
                      <a:pt x="80355" y="681889"/>
                    </a:lnTo>
                    <a:cubicBezTo>
                      <a:pt x="35976" y="681889"/>
                      <a:pt x="0" y="645913"/>
                      <a:pt x="0" y="601534"/>
                    </a:cubicBezTo>
                    <a:lnTo>
                      <a:pt x="0" y="80355"/>
                    </a:lnTo>
                    <a:cubicBezTo>
                      <a:pt x="0" y="35976"/>
                      <a:pt x="35976" y="0"/>
                      <a:pt x="80355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87179" y="227773"/>
              <a:ext cx="295461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2519"/>
                </a:lnSpc>
                <a:spcBef>
                  <a:spcPct val="0"/>
                </a:spcBef>
                <a:buAutoNum type="arabicPeriod" startAt="1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addRecord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41764" y="1078425"/>
              <a:ext cx="2645448" cy="815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Registers a record reference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78223" y="5651112"/>
            <a:ext cx="2215964" cy="1859057"/>
            <a:chOff x="0" y="0"/>
            <a:chExt cx="2954618" cy="247874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954618" cy="2478743"/>
              <a:chOff x="0" y="0"/>
              <a:chExt cx="812800" cy="68188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681889"/>
              </a:xfrm>
              <a:custGeom>
                <a:avLst/>
                <a:gdLst/>
                <a:ahLst/>
                <a:cxnLst/>
                <a:rect r="r" b="b" t="t" l="l"/>
                <a:pathLst>
                  <a:path h="681889" w="812800">
                    <a:moveTo>
                      <a:pt x="80355" y="0"/>
                    </a:moveTo>
                    <a:lnTo>
                      <a:pt x="732445" y="0"/>
                    </a:lnTo>
                    <a:cubicBezTo>
                      <a:pt x="776824" y="0"/>
                      <a:pt x="812800" y="35976"/>
                      <a:pt x="812800" y="80355"/>
                    </a:cubicBezTo>
                    <a:lnTo>
                      <a:pt x="812800" y="601534"/>
                    </a:lnTo>
                    <a:cubicBezTo>
                      <a:pt x="812800" y="622845"/>
                      <a:pt x="804334" y="643284"/>
                      <a:pt x="789265" y="658354"/>
                    </a:cubicBezTo>
                    <a:cubicBezTo>
                      <a:pt x="774195" y="673423"/>
                      <a:pt x="753756" y="681889"/>
                      <a:pt x="732445" y="681889"/>
                    </a:cubicBezTo>
                    <a:lnTo>
                      <a:pt x="80355" y="681889"/>
                    </a:lnTo>
                    <a:cubicBezTo>
                      <a:pt x="35976" y="681889"/>
                      <a:pt x="0" y="645913"/>
                      <a:pt x="0" y="601534"/>
                    </a:cubicBezTo>
                    <a:lnTo>
                      <a:pt x="0" y="80355"/>
                    </a:lnTo>
                    <a:cubicBezTo>
                      <a:pt x="0" y="35976"/>
                      <a:pt x="35976" y="0"/>
                      <a:pt x="80355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145298" y="212574"/>
              <a:ext cx="2649492" cy="311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3.</a:t>
              </a:r>
              <a:r>
                <a:rPr lang="en-US" sz="1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patientGrantAccess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14972" y="868825"/>
              <a:ext cx="2310144" cy="1234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Patient grants access to a provider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701418" y="5651112"/>
            <a:ext cx="2215964" cy="1859057"/>
            <a:chOff x="0" y="0"/>
            <a:chExt cx="2954618" cy="247874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954618" cy="2478743"/>
              <a:chOff x="0" y="0"/>
              <a:chExt cx="812800" cy="68188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681889"/>
              </a:xfrm>
              <a:custGeom>
                <a:avLst/>
                <a:gdLst/>
                <a:ahLst/>
                <a:cxnLst/>
                <a:rect r="r" b="b" t="t" l="l"/>
                <a:pathLst>
                  <a:path h="681889" w="812800">
                    <a:moveTo>
                      <a:pt x="80355" y="0"/>
                    </a:moveTo>
                    <a:lnTo>
                      <a:pt x="732445" y="0"/>
                    </a:lnTo>
                    <a:cubicBezTo>
                      <a:pt x="776824" y="0"/>
                      <a:pt x="812800" y="35976"/>
                      <a:pt x="812800" y="80355"/>
                    </a:cubicBezTo>
                    <a:lnTo>
                      <a:pt x="812800" y="601534"/>
                    </a:lnTo>
                    <a:cubicBezTo>
                      <a:pt x="812800" y="622845"/>
                      <a:pt x="804334" y="643284"/>
                      <a:pt x="789265" y="658354"/>
                    </a:cubicBezTo>
                    <a:cubicBezTo>
                      <a:pt x="774195" y="673423"/>
                      <a:pt x="753756" y="681889"/>
                      <a:pt x="732445" y="681889"/>
                    </a:cubicBezTo>
                    <a:lnTo>
                      <a:pt x="80355" y="681889"/>
                    </a:lnTo>
                    <a:cubicBezTo>
                      <a:pt x="35976" y="681889"/>
                      <a:pt x="0" y="645913"/>
                      <a:pt x="0" y="601534"/>
                    </a:cubicBezTo>
                    <a:lnTo>
                      <a:pt x="0" y="80355"/>
                    </a:lnTo>
                    <a:cubicBezTo>
                      <a:pt x="0" y="35976"/>
                      <a:pt x="35976" y="0"/>
                      <a:pt x="80355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186304" y="140594"/>
              <a:ext cx="2144613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2519"/>
                </a:lnSpc>
                <a:spcBef>
                  <a:spcPct val="0"/>
                </a:spcBef>
                <a:buAutoNum type="arabicPeriod" startAt="1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hasAccess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66795" y="941474"/>
              <a:ext cx="2605902" cy="1234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Checks whether access is permitted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22182" y="5651112"/>
            <a:ext cx="2215964" cy="1859057"/>
            <a:chOff x="0" y="0"/>
            <a:chExt cx="2954618" cy="2478743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954618" cy="2478743"/>
              <a:chOff x="0" y="0"/>
              <a:chExt cx="812800" cy="68188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681889"/>
              </a:xfrm>
              <a:custGeom>
                <a:avLst/>
                <a:gdLst/>
                <a:ahLst/>
                <a:cxnLst/>
                <a:rect r="r" b="b" t="t" l="l"/>
                <a:pathLst>
                  <a:path h="681889" w="812800">
                    <a:moveTo>
                      <a:pt x="80355" y="0"/>
                    </a:moveTo>
                    <a:lnTo>
                      <a:pt x="732445" y="0"/>
                    </a:lnTo>
                    <a:cubicBezTo>
                      <a:pt x="776824" y="0"/>
                      <a:pt x="812800" y="35976"/>
                      <a:pt x="812800" y="80355"/>
                    </a:cubicBezTo>
                    <a:lnTo>
                      <a:pt x="812800" y="601534"/>
                    </a:lnTo>
                    <a:cubicBezTo>
                      <a:pt x="812800" y="622845"/>
                      <a:pt x="804334" y="643284"/>
                      <a:pt x="789265" y="658354"/>
                    </a:cubicBezTo>
                    <a:cubicBezTo>
                      <a:pt x="774195" y="673423"/>
                      <a:pt x="753756" y="681889"/>
                      <a:pt x="732445" y="681889"/>
                    </a:cubicBezTo>
                    <a:lnTo>
                      <a:pt x="80355" y="681889"/>
                    </a:lnTo>
                    <a:cubicBezTo>
                      <a:pt x="35976" y="681889"/>
                      <a:pt x="0" y="645913"/>
                      <a:pt x="0" y="601534"/>
                    </a:cubicBezTo>
                    <a:lnTo>
                      <a:pt x="0" y="80355"/>
                    </a:lnTo>
                    <a:cubicBezTo>
                      <a:pt x="0" y="35976"/>
                      <a:pt x="35976" y="0"/>
                      <a:pt x="80355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85933"/>
              <a:ext cx="295461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2519"/>
                </a:lnSpc>
                <a:spcBef>
                  <a:spcPct val="0"/>
                </a:spcBef>
                <a:buAutoNum type="arabicPeriod" startAt="1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recordView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97054" y="790100"/>
              <a:ext cx="2560511" cy="1234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Logs that a record was viewed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86167" y="8790427"/>
            <a:ext cx="467873" cy="467873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784627" y="837630"/>
            <a:ext cx="8346429" cy="96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BLOCKCHAIN</a:t>
            </a:r>
            <a:r>
              <a:rPr lang="en-US" sz="5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LAYER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10614" y="4497278"/>
            <a:ext cx="10557643" cy="646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9"/>
              </a:lnSpc>
              <a:spcBef>
                <a:spcPct val="0"/>
              </a:spcBef>
            </a:pPr>
            <a:r>
              <a:rPr lang="en-US" sz="380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One smart contract, seven operations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958621" y="5651112"/>
            <a:ext cx="2375562" cy="1859057"/>
            <a:chOff x="0" y="0"/>
            <a:chExt cx="3167416" cy="2478743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2954618" cy="2478743"/>
              <a:chOff x="0" y="0"/>
              <a:chExt cx="812800" cy="68188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681889"/>
              </a:xfrm>
              <a:custGeom>
                <a:avLst/>
                <a:gdLst/>
                <a:ahLst/>
                <a:cxnLst/>
                <a:rect r="r" b="b" t="t" l="l"/>
                <a:pathLst>
                  <a:path h="681889" w="812800">
                    <a:moveTo>
                      <a:pt x="80355" y="0"/>
                    </a:moveTo>
                    <a:lnTo>
                      <a:pt x="732445" y="0"/>
                    </a:lnTo>
                    <a:cubicBezTo>
                      <a:pt x="776824" y="0"/>
                      <a:pt x="812800" y="35976"/>
                      <a:pt x="812800" y="80355"/>
                    </a:cubicBezTo>
                    <a:lnTo>
                      <a:pt x="812800" y="601534"/>
                    </a:lnTo>
                    <a:cubicBezTo>
                      <a:pt x="812800" y="622845"/>
                      <a:pt x="804334" y="643284"/>
                      <a:pt x="789265" y="658354"/>
                    </a:cubicBezTo>
                    <a:cubicBezTo>
                      <a:pt x="774195" y="673423"/>
                      <a:pt x="753756" y="681889"/>
                      <a:pt x="732445" y="681889"/>
                    </a:cubicBezTo>
                    <a:lnTo>
                      <a:pt x="80355" y="681889"/>
                    </a:lnTo>
                    <a:cubicBezTo>
                      <a:pt x="35976" y="681889"/>
                      <a:pt x="0" y="645913"/>
                      <a:pt x="0" y="601534"/>
                    </a:cubicBezTo>
                    <a:lnTo>
                      <a:pt x="0" y="80355"/>
                    </a:lnTo>
                    <a:cubicBezTo>
                      <a:pt x="0" y="35976"/>
                      <a:pt x="35976" y="0"/>
                      <a:pt x="80355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212797" y="381099"/>
              <a:ext cx="295461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2519"/>
                </a:lnSpc>
                <a:spcBef>
                  <a:spcPct val="0"/>
                </a:spcBef>
                <a:buAutoNum type="arabicPeriod" startAt="1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breakGlass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29913" y="1201271"/>
              <a:ext cx="1954953" cy="815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Emergency access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403185" y="5651112"/>
            <a:ext cx="2368774" cy="1859057"/>
            <a:chOff x="0" y="0"/>
            <a:chExt cx="3158365" cy="2478743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954618" cy="2478743"/>
              <a:chOff x="0" y="0"/>
              <a:chExt cx="812800" cy="68188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681889"/>
              </a:xfrm>
              <a:custGeom>
                <a:avLst/>
                <a:gdLst/>
                <a:ahLst/>
                <a:cxnLst/>
                <a:rect r="r" b="b" t="t" l="l"/>
                <a:pathLst>
                  <a:path h="681889" w="812800">
                    <a:moveTo>
                      <a:pt x="80355" y="0"/>
                    </a:moveTo>
                    <a:lnTo>
                      <a:pt x="732445" y="0"/>
                    </a:lnTo>
                    <a:cubicBezTo>
                      <a:pt x="776824" y="0"/>
                      <a:pt x="812800" y="35976"/>
                      <a:pt x="812800" y="80355"/>
                    </a:cubicBezTo>
                    <a:lnTo>
                      <a:pt x="812800" y="601534"/>
                    </a:lnTo>
                    <a:cubicBezTo>
                      <a:pt x="812800" y="622845"/>
                      <a:pt x="804334" y="643284"/>
                      <a:pt x="789265" y="658354"/>
                    </a:cubicBezTo>
                    <a:cubicBezTo>
                      <a:pt x="774195" y="673423"/>
                      <a:pt x="753756" y="681889"/>
                      <a:pt x="732445" y="681889"/>
                    </a:cubicBezTo>
                    <a:lnTo>
                      <a:pt x="80355" y="681889"/>
                    </a:lnTo>
                    <a:cubicBezTo>
                      <a:pt x="35976" y="681889"/>
                      <a:pt x="0" y="645913"/>
                      <a:pt x="0" y="601534"/>
                    </a:cubicBezTo>
                    <a:lnTo>
                      <a:pt x="0" y="80355"/>
                    </a:lnTo>
                    <a:cubicBezTo>
                      <a:pt x="0" y="35976"/>
                      <a:pt x="35976" y="0"/>
                      <a:pt x="80355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41" id="41"/>
            <p:cNvSpPr txBox="true"/>
            <p:nvPr/>
          </p:nvSpPr>
          <p:spPr>
            <a:xfrm rot="0">
              <a:off x="203747" y="532899"/>
              <a:ext cx="2954618" cy="39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8618" indent="-194309" lvl="1">
                <a:lnSpc>
                  <a:spcPts val="2519"/>
                </a:lnSpc>
                <a:spcBef>
                  <a:spcPct val="0"/>
                </a:spcBef>
                <a:buAutoNum type="arabicPeriod" startAt="1"/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getAuditTrail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06338" y="1374171"/>
              <a:ext cx="2168483" cy="815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Retrieves the audit history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65384" y="8817652"/>
            <a:ext cx="16368040" cy="36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Deployed on the Ethereum Sepolia test network. On-chain transactions and events give a tamper-evident history.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77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7735"/>
            <a:ext cx="1948110" cy="2184330"/>
            <a:chOff x="0" y="0"/>
            <a:chExt cx="2597481" cy="291244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066" r="0" b="2066"/>
            <a:stretch>
              <a:fillRect/>
            </a:stretch>
          </p:blipFill>
          <p:spPr>
            <a:xfrm flipH="false" flipV="false">
              <a:off x="0" y="0"/>
              <a:ext cx="2597481" cy="291244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5457578" y="16622"/>
            <a:ext cx="2685297" cy="2685297"/>
          </a:xfrm>
          <a:custGeom>
            <a:avLst/>
            <a:gdLst/>
            <a:ahLst/>
            <a:cxnLst/>
            <a:rect r="r" b="b" t="t" l="l"/>
            <a:pathLst>
              <a:path h="2685297" w="2685297">
                <a:moveTo>
                  <a:pt x="0" y="0"/>
                </a:moveTo>
                <a:lnTo>
                  <a:pt x="2685298" y="0"/>
                </a:lnTo>
                <a:lnTo>
                  <a:pt x="2685298" y="2685297"/>
                </a:lnTo>
                <a:lnTo>
                  <a:pt x="0" y="268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21491" y="8926287"/>
            <a:ext cx="664026" cy="66402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501901" y="1184627"/>
            <a:ext cx="15849694" cy="61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5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SECURITY AND PRIVACY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31064" y="2793939"/>
            <a:ext cx="8479090" cy="61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Clinical data stays off-chain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04988" y="4216038"/>
            <a:ext cx="6362561" cy="3480996"/>
            <a:chOff x="0" y="0"/>
            <a:chExt cx="8483414" cy="46413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070993" cy="4641328"/>
              <a:chOff x="0" y="0"/>
              <a:chExt cx="1153430" cy="66329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53430" cy="663295"/>
              </a:xfrm>
              <a:custGeom>
                <a:avLst/>
                <a:gdLst/>
                <a:ahLst/>
                <a:cxnLst/>
                <a:rect r="r" b="b" t="t" l="l"/>
                <a:pathLst>
                  <a:path h="663295" w="1153430">
                    <a:moveTo>
                      <a:pt x="29416" y="0"/>
                    </a:moveTo>
                    <a:lnTo>
                      <a:pt x="1124013" y="0"/>
                    </a:lnTo>
                    <a:cubicBezTo>
                      <a:pt x="1131815" y="0"/>
                      <a:pt x="1139297" y="3099"/>
                      <a:pt x="1144814" y="8616"/>
                    </a:cubicBezTo>
                    <a:cubicBezTo>
                      <a:pt x="1150330" y="14132"/>
                      <a:pt x="1153430" y="21615"/>
                      <a:pt x="1153430" y="29416"/>
                    </a:cubicBezTo>
                    <a:lnTo>
                      <a:pt x="1153430" y="633878"/>
                    </a:lnTo>
                    <a:cubicBezTo>
                      <a:pt x="1153430" y="650124"/>
                      <a:pt x="1140260" y="663295"/>
                      <a:pt x="1124013" y="663295"/>
                    </a:cubicBezTo>
                    <a:lnTo>
                      <a:pt x="29416" y="663295"/>
                    </a:lnTo>
                    <a:cubicBezTo>
                      <a:pt x="13170" y="663295"/>
                      <a:pt x="0" y="650124"/>
                      <a:pt x="0" y="633878"/>
                    </a:cubicBezTo>
                    <a:lnTo>
                      <a:pt x="0" y="29416"/>
                    </a:lnTo>
                    <a:cubicBezTo>
                      <a:pt x="0" y="13170"/>
                      <a:pt x="13170" y="0"/>
                      <a:pt x="29416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78861" y="579964"/>
              <a:ext cx="8404553" cy="3366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</a:t>
              </a:r>
              <a:r>
                <a:rPr lang="en-US" sz="25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PostgreSQL stores</a:t>
              </a:r>
            </a:p>
            <a:p>
              <a:pPr algn="l">
                <a:lnSpc>
                  <a:spcPts val="3359"/>
                </a:lnSpc>
                <a:spcBef>
                  <a:spcPct val="0"/>
                </a:spcBef>
              </a:pPr>
            </a:p>
            <a:p>
              <a:pPr algn="l" marL="518160" indent="-259080" lvl="1">
                <a:lnSpc>
                  <a:spcPts val="3359"/>
                </a:lnSpc>
                <a:spcBef>
                  <a:spcPct val="0"/>
                </a:spcBef>
                <a:buAutoNum type="arabicPeriod" startAt="1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Patient and application data</a:t>
              </a:r>
            </a:p>
            <a:p>
              <a:pPr algn="l" marL="518160" indent="-259080" lvl="1">
                <a:lnSpc>
                  <a:spcPts val="3359"/>
                </a:lnSpc>
                <a:spcBef>
                  <a:spcPct val="0"/>
                </a:spcBef>
                <a:buAutoNum type="arabicPeriod" startAt="1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Clinical records and metadata</a:t>
              </a:r>
            </a:p>
            <a:p>
              <a:pPr algn="l" marL="518160" indent="-259080" lvl="1">
                <a:lnSpc>
                  <a:spcPts val="3359"/>
                </a:lnSpc>
                <a:spcBef>
                  <a:spcPct val="0"/>
                </a:spcBef>
                <a:buAutoNum type="arabicPeriod" startAt="1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Everything needed for authorized retrieval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09384" y="4216038"/>
            <a:ext cx="6933563" cy="3561612"/>
            <a:chOff x="0" y="0"/>
            <a:chExt cx="9244751" cy="474881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944357" cy="4748816"/>
              <a:chOff x="0" y="0"/>
              <a:chExt cx="1485452" cy="78866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85452" cy="788669"/>
              </a:xfrm>
              <a:custGeom>
                <a:avLst/>
                <a:gdLst/>
                <a:ahLst/>
                <a:cxnLst/>
                <a:rect r="r" b="b" t="t" l="l"/>
                <a:pathLst>
                  <a:path h="788669" w="1485452">
                    <a:moveTo>
                      <a:pt x="26544" y="0"/>
                    </a:moveTo>
                    <a:lnTo>
                      <a:pt x="1458908" y="0"/>
                    </a:lnTo>
                    <a:cubicBezTo>
                      <a:pt x="1473568" y="0"/>
                      <a:pt x="1485452" y="11884"/>
                      <a:pt x="1485452" y="26544"/>
                    </a:cubicBezTo>
                    <a:lnTo>
                      <a:pt x="1485452" y="762125"/>
                    </a:lnTo>
                    <a:cubicBezTo>
                      <a:pt x="1485452" y="776785"/>
                      <a:pt x="1473568" y="788669"/>
                      <a:pt x="1458908" y="788669"/>
                    </a:cubicBezTo>
                    <a:lnTo>
                      <a:pt x="26544" y="788669"/>
                    </a:lnTo>
                    <a:cubicBezTo>
                      <a:pt x="11884" y="788669"/>
                      <a:pt x="0" y="776785"/>
                      <a:pt x="0" y="762125"/>
                    </a:cubicBezTo>
                    <a:lnTo>
                      <a:pt x="0" y="26544"/>
                    </a:lnTo>
                    <a:cubicBezTo>
                      <a:pt x="0" y="11884"/>
                      <a:pt x="11884" y="0"/>
                      <a:pt x="26544" y="0"/>
                    </a:cubicBezTo>
                    <a:close/>
                  </a:path>
                </a:pathLst>
              </a:custGeom>
              <a:solidFill>
                <a:srgbClr val="2F3F8B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302594" y="514338"/>
              <a:ext cx="8942157" cy="3330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blockchain stores</a:t>
              </a:r>
            </a:p>
            <a:p>
              <a:pPr algn="just">
                <a:lnSpc>
                  <a:spcPts val="2519"/>
                </a:lnSpc>
                <a:spcBef>
                  <a:spcPct val="0"/>
                </a:spcBef>
              </a:pPr>
            </a:p>
            <a:p>
              <a:pPr algn="just">
                <a:lnSpc>
                  <a:spcPts val="2519"/>
                </a:lnSpc>
                <a:spcBef>
                  <a:spcPct val="0"/>
                </a:spcBef>
              </a:pPr>
            </a:p>
            <a:p>
              <a:pPr algn="just" marL="518160" indent="-259080" lvl="1">
                <a:lnSpc>
                  <a:spcPts val="3359"/>
                </a:lnSpc>
                <a:spcBef>
                  <a:spcPct val="0"/>
                </a:spcBef>
                <a:buAutoNum type="arabicPeriod" startAt="1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Registration and record references</a:t>
              </a:r>
            </a:p>
            <a:p>
              <a:pPr algn="just" marL="518160" indent="-259080" lvl="1">
                <a:lnSpc>
                  <a:spcPts val="3359"/>
                </a:lnSpc>
                <a:spcBef>
                  <a:spcPct val="0"/>
                </a:spcBef>
                <a:buAutoNum type="arabicPeriod" startAt="1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Access permissions</a:t>
              </a:r>
            </a:p>
            <a:p>
              <a:pPr algn="just" marL="518160" indent="-259080" lvl="1">
                <a:lnSpc>
                  <a:spcPts val="3359"/>
                </a:lnSpc>
                <a:spcBef>
                  <a:spcPct val="0"/>
                </a:spcBef>
                <a:buAutoNum type="arabicPeriod" startAt="1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Transaction and audit events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83593" y="8676109"/>
            <a:ext cx="18444729" cy="93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Controls: JWT-authenticated API requests, backend permission checks, and AES-256-GCM encryption for custodial wallet data.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Names, NIDA numbers, phone numbers and clinical details must never go on a public chain. A full security assessment is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needed before real patient data is used.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77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1621"/>
            <a:ext cx="2405526" cy="2802555"/>
          </a:xfrm>
          <a:custGeom>
            <a:avLst/>
            <a:gdLst/>
            <a:ahLst/>
            <a:cxnLst/>
            <a:rect r="r" b="b" t="t" l="l"/>
            <a:pathLst>
              <a:path h="2802555" w="2405526">
                <a:moveTo>
                  <a:pt x="0" y="0"/>
                </a:moveTo>
                <a:lnTo>
                  <a:pt x="2405526" y="0"/>
                </a:lnTo>
                <a:lnTo>
                  <a:pt x="2405526" y="2802555"/>
                </a:lnTo>
                <a:lnTo>
                  <a:pt x="0" y="2802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12065" y="110250"/>
            <a:ext cx="2685297" cy="2685297"/>
          </a:xfrm>
          <a:custGeom>
            <a:avLst/>
            <a:gdLst/>
            <a:ahLst/>
            <a:cxnLst/>
            <a:rect r="r" b="b" t="t" l="l"/>
            <a:pathLst>
              <a:path h="2685297" w="2685297">
                <a:moveTo>
                  <a:pt x="0" y="0"/>
                </a:moveTo>
                <a:lnTo>
                  <a:pt x="2685297" y="0"/>
                </a:lnTo>
                <a:lnTo>
                  <a:pt x="2685297" y="2685297"/>
                </a:lnTo>
                <a:lnTo>
                  <a:pt x="0" y="268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65080" y="4296586"/>
            <a:ext cx="5769444" cy="3339330"/>
            <a:chOff x="0" y="0"/>
            <a:chExt cx="140429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4295" cy="812800"/>
            </a:xfrm>
            <a:custGeom>
              <a:avLst/>
              <a:gdLst/>
              <a:ahLst/>
              <a:cxnLst/>
              <a:rect r="r" b="b" t="t" l="l"/>
              <a:pathLst>
                <a:path h="812800" w="1404295">
                  <a:moveTo>
                    <a:pt x="30863" y="0"/>
                  </a:moveTo>
                  <a:lnTo>
                    <a:pt x="1373431" y="0"/>
                  </a:lnTo>
                  <a:cubicBezTo>
                    <a:pt x="1390477" y="0"/>
                    <a:pt x="1404295" y="13818"/>
                    <a:pt x="1404295" y="30863"/>
                  </a:cubicBezTo>
                  <a:lnTo>
                    <a:pt x="1404295" y="781937"/>
                  </a:lnTo>
                  <a:cubicBezTo>
                    <a:pt x="1404295" y="798982"/>
                    <a:pt x="1390477" y="812800"/>
                    <a:pt x="1373431" y="812800"/>
                  </a:cubicBezTo>
                  <a:lnTo>
                    <a:pt x="30863" y="812800"/>
                  </a:lnTo>
                  <a:cubicBezTo>
                    <a:pt x="13818" y="812800"/>
                    <a:pt x="0" y="798982"/>
                    <a:pt x="0" y="781937"/>
                  </a:cubicBezTo>
                  <a:lnTo>
                    <a:pt x="0" y="30863"/>
                  </a:lnTo>
                  <a:cubicBezTo>
                    <a:pt x="0" y="13818"/>
                    <a:pt x="13818" y="0"/>
                    <a:pt x="30863" y="0"/>
                  </a:cubicBezTo>
                  <a:close/>
                </a:path>
              </a:pathLst>
            </a:custGeom>
            <a:solidFill>
              <a:srgbClr val="2F3F8B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650571" y="872982"/>
            <a:ext cx="7646482" cy="100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WHERE WE 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66066" y="2856451"/>
            <a:ext cx="12395610" cy="61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foundation is built, the integration is being verified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7279" y="4766739"/>
            <a:ext cx="4660925" cy="2208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88BDFF"/>
                </a:solidFill>
                <a:latin typeface="Open Sauce"/>
                <a:ea typeface="Open Sauce"/>
                <a:cs typeface="Open Sauce"/>
                <a:sym typeface="Open Sauce"/>
              </a:rPr>
              <a:t>BUILT</a:t>
            </a:r>
          </a:p>
          <a:p>
            <a:pPr algn="just" marL="388618" indent="-194309" lvl="1">
              <a:lnSpc>
                <a:spcPts val="2519"/>
              </a:lnSpc>
              <a:spcBef>
                <a:spcPct val="0"/>
              </a:spcBef>
              <a:buAutoNum type="arabicPeriod" startAt="1"/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Angular web application</a:t>
            </a:r>
          </a:p>
          <a:p>
            <a:pPr algn="just" marL="388618" indent="-194309" lvl="1">
              <a:lnSpc>
                <a:spcPts val="2519"/>
              </a:lnSpc>
              <a:spcBef>
                <a:spcPct val="0"/>
              </a:spcBef>
              <a:buAutoNum type="arabicPeriod" startAt="1"/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Django REST API with JWT login</a:t>
            </a:r>
          </a:p>
          <a:p>
            <a:pPr algn="just" marL="388618" indent="-194309" lvl="1">
              <a:lnSpc>
                <a:spcPts val="2519"/>
              </a:lnSpc>
              <a:spcBef>
                <a:spcPct val="0"/>
              </a:spcBef>
              <a:buAutoNum type="arabicPeriod" startAt="1"/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PostgreSQL integration</a:t>
            </a:r>
          </a:p>
          <a:p>
            <a:pPr algn="just" marL="388618" indent="-194309" lvl="1">
              <a:lnSpc>
                <a:spcPts val="2519"/>
              </a:lnSpc>
              <a:spcBef>
                <a:spcPct val="0"/>
              </a:spcBef>
              <a:buAutoNum type="arabicPeriod" startAt="1"/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Solidity contract deployed on Sepolia</a:t>
            </a:r>
          </a:p>
          <a:p>
            <a:pPr algn="just" marL="388618" indent="-194309" lvl="1">
              <a:lnSpc>
                <a:spcPts val="2519"/>
              </a:lnSpc>
              <a:spcBef>
                <a:spcPct val="0"/>
              </a:spcBef>
              <a:buAutoNum type="arabicPeriod" startAt="1"/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Off-chain and on-chain data separation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16139" y="4525431"/>
            <a:ext cx="5769444" cy="3339330"/>
            <a:chOff x="0" y="0"/>
            <a:chExt cx="1404295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4295" cy="812800"/>
            </a:xfrm>
            <a:custGeom>
              <a:avLst/>
              <a:gdLst/>
              <a:ahLst/>
              <a:cxnLst/>
              <a:rect r="r" b="b" t="t" l="l"/>
              <a:pathLst>
                <a:path h="812800" w="1404295">
                  <a:moveTo>
                    <a:pt x="30863" y="0"/>
                  </a:moveTo>
                  <a:lnTo>
                    <a:pt x="1373431" y="0"/>
                  </a:lnTo>
                  <a:cubicBezTo>
                    <a:pt x="1390477" y="0"/>
                    <a:pt x="1404295" y="13818"/>
                    <a:pt x="1404295" y="30863"/>
                  </a:cubicBezTo>
                  <a:lnTo>
                    <a:pt x="1404295" y="781937"/>
                  </a:lnTo>
                  <a:cubicBezTo>
                    <a:pt x="1404295" y="798982"/>
                    <a:pt x="1390477" y="812800"/>
                    <a:pt x="1373431" y="812800"/>
                  </a:cubicBezTo>
                  <a:lnTo>
                    <a:pt x="30863" y="812800"/>
                  </a:lnTo>
                  <a:cubicBezTo>
                    <a:pt x="13818" y="812800"/>
                    <a:pt x="0" y="798982"/>
                    <a:pt x="0" y="781937"/>
                  </a:cubicBezTo>
                  <a:lnTo>
                    <a:pt x="0" y="30863"/>
                  </a:lnTo>
                  <a:cubicBezTo>
                    <a:pt x="0" y="13818"/>
                    <a:pt x="13818" y="0"/>
                    <a:pt x="30863" y="0"/>
                  </a:cubicBezTo>
                  <a:close/>
                </a:path>
              </a:pathLst>
            </a:custGeom>
            <a:solidFill>
              <a:srgbClr val="2F3F8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924373" y="5000221"/>
            <a:ext cx="5352976" cy="189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88BDFF"/>
                </a:solidFill>
                <a:latin typeface="Open Sauce"/>
                <a:ea typeface="Open Sauce"/>
                <a:cs typeface="Open Sauce"/>
                <a:sym typeface="Open Sauce"/>
              </a:rPr>
              <a:t>BEING VERIFIED</a:t>
            </a:r>
          </a:p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AutoNum type="arabicPeriod" startAt="1"/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Django broadcasting transactions end to end</a:t>
            </a:r>
          </a:p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AutoNum type="arabicPeriod" startAt="1"/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Receipt and event handling</a:t>
            </a:r>
          </a:p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AutoNum type="arabicPeriod" startAt="1"/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Permission grants and access denial</a:t>
            </a:r>
          </a:p>
          <a:p>
            <a:pPr algn="l" marL="388618" indent="-194309" lvl="1">
              <a:lnSpc>
                <a:spcPts val="2519"/>
              </a:lnSpc>
              <a:spcBef>
                <a:spcPct val="0"/>
              </a:spcBef>
              <a:buAutoNum type="arabicPeriod" startAt="1"/>
            </a:pPr>
            <a:r>
              <a:rPr lang="en-US" sz="1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full cross-hospital workflow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77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01168" y="131385"/>
            <a:ext cx="2685297" cy="2685297"/>
          </a:xfrm>
          <a:custGeom>
            <a:avLst/>
            <a:gdLst/>
            <a:ahLst/>
            <a:cxnLst/>
            <a:rect r="r" b="b" t="t" l="l"/>
            <a:pathLst>
              <a:path h="2685297" w="2685297">
                <a:moveTo>
                  <a:pt x="0" y="0"/>
                </a:moveTo>
                <a:lnTo>
                  <a:pt x="2685297" y="0"/>
                </a:lnTo>
                <a:lnTo>
                  <a:pt x="2685297" y="2685297"/>
                </a:lnTo>
                <a:lnTo>
                  <a:pt x="0" y="2685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2756"/>
            <a:ext cx="2405526" cy="2802555"/>
          </a:xfrm>
          <a:custGeom>
            <a:avLst/>
            <a:gdLst/>
            <a:ahLst/>
            <a:cxnLst/>
            <a:rect r="r" b="b" t="t" l="l"/>
            <a:pathLst>
              <a:path h="2802555" w="2405526">
                <a:moveTo>
                  <a:pt x="0" y="0"/>
                </a:moveTo>
                <a:lnTo>
                  <a:pt x="2405526" y="0"/>
                </a:lnTo>
                <a:lnTo>
                  <a:pt x="2405526" y="2802555"/>
                </a:lnTo>
                <a:lnTo>
                  <a:pt x="0" y="2802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58415" y="2853443"/>
            <a:ext cx="13329051" cy="6888901"/>
          </a:xfrm>
          <a:custGeom>
            <a:avLst/>
            <a:gdLst/>
            <a:ahLst/>
            <a:cxnLst/>
            <a:rect r="r" b="b" t="t" l="l"/>
            <a:pathLst>
              <a:path h="6888901" w="13329051">
                <a:moveTo>
                  <a:pt x="0" y="0"/>
                </a:moveTo>
                <a:lnTo>
                  <a:pt x="13329051" y="0"/>
                </a:lnTo>
                <a:lnTo>
                  <a:pt x="13329051" y="6888900"/>
                </a:lnTo>
                <a:lnTo>
                  <a:pt x="0" y="6888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348" r="0" b="-834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10303" y="-267708"/>
            <a:ext cx="12486088" cy="250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</a:p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TECHNICAL ARCHITECTURE DIAGRAM</a:t>
            </a:r>
          </a:p>
          <a:p>
            <a:pPr algn="ctr">
              <a:lnSpc>
                <a:spcPts val="67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77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2850"/>
            <a:ext cx="2405526" cy="2802555"/>
          </a:xfrm>
          <a:custGeom>
            <a:avLst/>
            <a:gdLst/>
            <a:ahLst/>
            <a:cxnLst/>
            <a:rect r="r" b="b" t="t" l="l"/>
            <a:pathLst>
              <a:path h="2802555" w="2405526">
                <a:moveTo>
                  <a:pt x="0" y="0"/>
                </a:moveTo>
                <a:lnTo>
                  <a:pt x="2405526" y="0"/>
                </a:lnTo>
                <a:lnTo>
                  <a:pt x="2405526" y="2802555"/>
                </a:lnTo>
                <a:lnTo>
                  <a:pt x="0" y="2802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22878" y="0"/>
            <a:ext cx="2685297" cy="2685297"/>
          </a:xfrm>
          <a:custGeom>
            <a:avLst/>
            <a:gdLst/>
            <a:ahLst/>
            <a:cxnLst/>
            <a:rect r="r" b="b" t="t" l="l"/>
            <a:pathLst>
              <a:path h="2685297" w="2685297">
                <a:moveTo>
                  <a:pt x="0" y="0"/>
                </a:moveTo>
                <a:lnTo>
                  <a:pt x="2685297" y="0"/>
                </a:lnTo>
                <a:lnTo>
                  <a:pt x="2685297" y="2685297"/>
                </a:lnTo>
                <a:lnTo>
                  <a:pt x="0" y="26852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3395" y="4802988"/>
            <a:ext cx="3824263" cy="3464650"/>
            <a:chOff x="0" y="0"/>
            <a:chExt cx="89716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97165" cy="812800"/>
            </a:xfrm>
            <a:custGeom>
              <a:avLst/>
              <a:gdLst/>
              <a:ahLst/>
              <a:cxnLst/>
              <a:rect r="r" b="b" t="t" l="l"/>
              <a:pathLst>
                <a:path h="812800" w="897165">
                  <a:moveTo>
                    <a:pt x="46562" y="0"/>
                  </a:moveTo>
                  <a:lnTo>
                    <a:pt x="850603" y="0"/>
                  </a:lnTo>
                  <a:cubicBezTo>
                    <a:pt x="876318" y="0"/>
                    <a:pt x="897165" y="20846"/>
                    <a:pt x="897165" y="46562"/>
                  </a:cubicBezTo>
                  <a:lnTo>
                    <a:pt x="897165" y="766238"/>
                  </a:lnTo>
                  <a:cubicBezTo>
                    <a:pt x="897165" y="778587"/>
                    <a:pt x="892259" y="790430"/>
                    <a:pt x="883527" y="799162"/>
                  </a:cubicBezTo>
                  <a:cubicBezTo>
                    <a:pt x="874795" y="807894"/>
                    <a:pt x="862952" y="812800"/>
                    <a:pt x="850603" y="812800"/>
                  </a:cubicBezTo>
                  <a:lnTo>
                    <a:pt x="46562" y="812800"/>
                  </a:lnTo>
                  <a:cubicBezTo>
                    <a:pt x="20846" y="812800"/>
                    <a:pt x="0" y="791954"/>
                    <a:pt x="0" y="766238"/>
                  </a:cubicBezTo>
                  <a:lnTo>
                    <a:pt x="0" y="46562"/>
                  </a:lnTo>
                  <a:cubicBezTo>
                    <a:pt x="0" y="20846"/>
                    <a:pt x="20846" y="0"/>
                    <a:pt x="46562" y="0"/>
                  </a:cubicBezTo>
                  <a:close/>
                </a:path>
              </a:pathLst>
            </a:custGeom>
            <a:solidFill>
              <a:srgbClr val="2F3F8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67352" y="4802988"/>
            <a:ext cx="3824263" cy="3464650"/>
            <a:chOff x="0" y="0"/>
            <a:chExt cx="897165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7165" cy="812800"/>
            </a:xfrm>
            <a:custGeom>
              <a:avLst/>
              <a:gdLst/>
              <a:ahLst/>
              <a:cxnLst/>
              <a:rect r="r" b="b" t="t" l="l"/>
              <a:pathLst>
                <a:path h="812800" w="897165">
                  <a:moveTo>
                    <a:pt x="46562" y="0"/>
                  </a:moveTo>
                  <a:lnTo>
                    <a:pt x="850603" y="0"/>
                  </a:lnTo>
                  <a:cubicBezTo>
                    <a:pt x="876318" y="0"/>
                    <a:pt x="897165" y="20846"/>
                    <a:pt x="897165" y="46562"/>
                  </a:cubicBezTo>
                  <a:lnTo>
                    <a:pt x="897165" y="766238"/>
                  </a:lnTo>
                  <a:cubicBezTo>
                    <a:pt x="897165" y="778587"/>
                    <a:pt x="892259" y="790430"/>
                    <a:pt x="883527" y="799162"/>
                  </a:cubicBezTo>
                  <a:cubicBezTo>
                    <a:pt x="874795" y="807894"/>
                    <a:pt x="862952" y="812800"/>
                    <a:pt x="850603" y="812800"/>
                  </a:cubicBezTo>
                  <a:lnTo>
                    <a:pt x="46562" y="812800"/>
                  </a:lnTo>
                  <a:cubicBezTo>
                    <a:pt x="20846" y="812800"/>
                    <a:pt x="0" y="791954"/>
                    <a:pt x="0" y="766238"/>
                  </a:cubicBezTo>
                  <a:lnTo>
                    <a:pt x="0" y="46562"/>
                  </a:lnTo>
                  <a:cubicBezTo>
                    <a:pt x="0" y="20846"/>
                    <a:pt x="20846" y="0"/>
                    <a:pt x="46562" y="0"/>
                  </a:cubicBezTo>
                  <a:close/>
                </a:path>
              </a:pathLst>
            </a:custGeom>
            <a:solidFill>
              <a:srgbClr val="2F3F8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11067" y="4868535"/>
            <a:ext cx="3824263" cy="3464650"/>
            <a:chOff x="0" y="0"/>
            <a:chExt cx="897165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7165" cy="812800"/>
            </a:xfrm>
            <a:custGeom>
              <a:avLst/>
              <a:gdLst/>
              <a:ahLst/>
              <a:cxnLst/>
              <a:rect r="r" b="b" t="t" l="l"/>
              <a:pathLst>
                <a:path h="812800" w="897165">
                  <a:moveTo>
                    <a:pt x="46562" y="0"/>
                  </a:moveTo>
                  <a:lnTo>
                    <a:pt x="850603" y="0"/>
                  </a:lnTo>
                  <a:cubicBezTo>
                    <a:pt x="876318" y="0"/>
                    <a:pt x="897165" y="20846"/>
                    <a:pt x="897165" y="46562"/>
                  </a:cubicBezTo>
                  <a:lnTo>
                    <a:pt x="897165" y="766238"/>
                  </a:lnTo>
                  <a:cubicBezTo>
                    <a:pt x="897165" y="778587"/>
                    <a:pt x="892259" y="790430"/>
                    <a:pt x="883527" y="799162"/>
                  </a:cubicBezTo>
                  <a:cubicBezTo>
                    <a:pt x="874795" y="807894"/>
                    <a:pt x="862952" y="812800"/>
                    <a:pt x="850603" y="812800"/>
                  </a:cubicBezTo>
                  <a:lnTo>
                    <a:pt x="46562" y="812800"/>
                  </a:lnTo>
                  <a:cubicBezTo>
                    <a:pt x="20846" y="812800"/>
                    <a:pt x="0" y="791954"/>
                    <a:pt x="0" y="766238"/>
                  </a:cubicBezTo>
                  <a:lnTo>
                    <a:pt x="0" y="46562"/>
                  </a:lnTo>
                  <a:cubicBezTo>
                    <a:pt x="0" y="20846"/>
                    <a:pt x="20846" y="0"/>
                    <a:pt x="46562" y="0"/>
                  </a:cubicBezTo>
                  <a:close/>
                </a:path>
              </a:pathLst>
            </a:custGeom>
            <a:solidFill>
              <a:srgbClr val="2F3F8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80865" y="4868535"/>
            <a:ext cx="3824263" cy="3464650"/>
            <a:chOff x="0" y="0"/>
            <a:chExt cx="897165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7165" cy="812800"/>
            </a:xfrm>
            <a:custGeom>
              <a:avLst/>
              <a:gdLst/>
              <a:ahLst/>
              <a:cxnLst/>
              <a:rect r="r" b="b" t="t" l="l"/>
              <a:pathLst>
                <a:path h="812800" w="897165">
                  <a:moveTo>
                    <a:pt x="46562" y="0"/>
                  </a:moveTo>
                  <a:lnTo>
                    <a:pt x="850603" y="0"/>
                  </a:lnTo>
                  <a:cubicBezTo>
                    <a:pt x="876318" y="0"/>
                    <a:pt x="897165" y="20846"/>
                    <a:pt x="897165" y="46562"/>
                  </a:cubicBezTo>
                  <a:lnTo>
                    <a:pt x="897165" y="766238"/>
                  </a:lnTo>
                  <a:cubicBezTo>
                    <a:pt x="897165" y="778587"/>
                    <a:pt x="892259" y="790430"/>
                    <a:pt x="883527" y="799162"/>
                  </a:cubicBezTo>
                  <a:cubicBezTo>
                    <a:pt x="874795" y="807894"/>
                    <a:pt x="862952" y="812800"/>
                    <a:pt x="850603" y="812800"/>
                  </a:cubicBezTo>
                  <a:lnTo>
                    <a:pt x="46562" y="812800"/>
                  </a:lnTo>
                  <a:cubicBezTo>
                    <a:pt x="20846" y="812800"/>
                    <a:pt x="0" y="791954"/>
                    <a:pt x="0" y="766238"/>
                  </a:cubicBezTo>
                  <a:lnTo>
                    <a:pt x="0" y="46562"/>
                  </a:lnTo>
                  <a:cubicBezTo>
                    <a:pt x="0" y="20846"/>
                    <a:pt x="20846" y="0"/>
                    <a:pt x="46562" y="0"/>
                  </a:cubicBezTo>
                  <a:close/>
                </a:path>
              </a:pathLst>
            </a:custGeom>
            <a:solidFill>
              <a:srgbClr val="2F3F8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70851" y="9184057"/>
            <a:ext cx="718513" cy="71851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646040" y="601431"/>
            <a:ext cx="10132459" cy="96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2626" y="5305670"/>
            <a:ext cx="3824263" cy="61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Close the loop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4034" y="6127718"/>
            <a:ext cx="3824263" cy="166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Verify end-to-end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transaction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broadcasting and add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automated tests.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67352" y="5421129"/>
            <a:ext cx="3900545" cy="49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Connect hospitals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38016" y="6250107"/>
            <a:ext cx="3824263" cy="124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Build hospital-to-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hospital APIs and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evaluate HL7 FHIR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16313" y="5346945"/>
            <a:ext cx="4805027" cy="530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Strengthen control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31999" y="6127718"/>
            <a:ext cx="3515320" cy="166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Consent revocation,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emergency access, key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management and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monitoring.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78500" y="5363287"/>
            <a:ext cx="3824263" cy="61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Pilot safely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54883" y="6250108"/>
            <a:ext cx="3824263" cy="124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Security and privacy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review, then a controlled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pilot with stakeholders.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49590" y="3035445"/>
            <a:ext cx="7919589" cy="61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From working prototype to pilot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2494" y="9136432"/>
            <a:ext cx="14620503" cy="860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impact: clearer visibility and stronger accountability for who accesses patient records, on 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foundation for interoperable care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77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90271" y="66746"/>
            <a:ext cx="2685297" cy="2685297"/>
          </a:xfrm>
          <a:custGeom>
            <a:avLst/>
            <a:gdLst/>
            <a:ahLst/>
            <a:cxnLst/>
            <a:rect r="r" b="b" t="t" l="l"/>
            <a:pathLst>
              <a:path h="2685297" w="2685297">
                <a:moveTo>
                  <a:pt x="0" y="0"/>
                </a:moveTo>
                <a:lnTo>
                  <a:pt x="2685297" y="0"/>
                </a:lnTo>
                <a:lnTo>
                  <a:pt x="2685297" y="2685298"/>
                </a:lnTo>
                <a:lnTo>
                  <a:pt x="0" y="26852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6746"/>
            <a:ext cx="2405526" cy="2802555"/>
          </a:xfrm>
          <a:custGeom>
            <a:avLst/>
            <a:gdLst/>
            <a:ahLst/>
            <a:cxnLst/>
            <a:rect r="r" b="b" t="t" l="l"/>
            <a:pathLst>
              <a:path h="2802555" w="2405526">
                <a:moveTo>
                  <a:pt x="0" y="0"/>
                </a:moveTo>
                <a:lnTo>
                  <a:pt x="2405526" y="0"/>
                </a:lnTo>
                <a:lnTo>
                  <a:pt x="2405526" y="2802555"/>
                </a:lnTo>
                <a:lnTo>
                  <a:pt x="0" y="2802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34736" y="716789"/>
            <a:ext cx="5956367" cy="96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03827" y="3255198"/>
            <a:ext cx="11324581" cy="278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AfyaTrust combines Angular, Django REST API, PostgreSQL, and a Solidity smart contract on Ethereum Sepolia to support secure patient-record access and blockchain-based auditing. Clinical data remains off-chain, while supported permissions and audit events are recorded on the blockchain. Next steps include verifying end-to-end integration, connecting hospitals, and strengthening security before a pilot.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43559" y="6957126"/>
            <a:ext cx="11147041" cy="53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Secure records. Controlled access. Transparent auditing.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772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32054" y="5977831"/>
            <a:ext cx="4439907" cy="4168839"/>
          </a:xfrm>
          <a:custGeom>
            <a:avLst/>
            <a:gdLst/>
            <a:ahLst/>
            <a:cxnLst/>
            <a:rect r="r" b="b" t="t" l="l"/>
            <a:pathLst>
              <a:path h="4168839" w="4439907">
                <a:moveTo>
                  <a:pt x="0" y="0"/>
                </a:moveTo>
                <a:lnTo>
                  <a:pt x="4439907" y="0"/>
                </a:lnTo>
                <a:lnTo>
                  <a:pt x="4439907" y="4168839"/>
                </a:lnTo>
                <a:lnTo>
                  <a:pt x="0" y="4168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833139"/>
            <a:ext cx="332473" cy="332473"/>
          </a:xfrm>
          <a:custGeom>
            <a:avLst/>
            <a:gdLst/>
            <a:ahLst/>
            <a:cxnLst/>
            <a:rect r="r" b="b" t="t" l="l"/>
            <a:pathLst>
              <a:path h="332473" w="332473">
                <a:moveTo>
                  <a:pt x="0" y="0"/>
                </a:moveTo>
                <a:lnTo>
                  <a:pt x="332473" y="0"/>
                </a:lnTo>
                <a:lnTo>
                  <a:pt x="332473" y="332473"/>
                </a:lnTo>
                <a:lnTo>
                  <a:pt x="0" y="33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01168" y="0"/>
            <a:ext cx="2685297" cy="2685297"/>
          </a:xfrm>
          <a:custGeom>
            <a:avLst/>
            <a:gdLst/>
            <a:ahLst/>
            <a:cxnLst/>
            <a:rect r="r" b="b" t="t" l="l"/>
            <a:pathLst>
              <a:path h="2685297" w="2685297">
                <a:moveTo>
                  <a:pt x="0" y="0"/>
                </a:moveTo>
                <a:lnTo>
                  <a:pt x="2685297" y="0"/>
                </a:lnTo>
                <a:lnTo>
                  <a:pt x="2685297" y="2685297"/>
                </a:lnTo>
                <a:lnTo>
                  <a:pt x="0" y="26852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827" y="0"/>
            <a:ext cx="2405526" cy="2802555"/>
          </a:xfrm>
          <a:custGeom>
            <a:avLst/>
            <a:gdLst/>
            <a:ahLst/>
            <a:cxnLst/>
            <a:rect r="r" b="b" t="t" l="l"/>
            <a:pathLst>
              <a:path h="2802555" w="2405526">
                <a:moveTo>
                  <a:pt x="0" y="0"/>
                </a:moveTo>
                <a:lnTo>
                  <a:pt x="2405526" y="0"/>
                </a:lnTo>
                <a:lnTo>
                  <a:pt x="2405526" y="2802555"/>
                </a:lnTo>
                <a:lnTo>
                  <a:pt x="0" y="2802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16218" y="4704662"/>
            <a:ext cx="13756844" cy="1449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sz="14757">
                <a:solidFill>
                  <a:srgbClr val="C8DC45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DAHWgXyxrgM</dc:identifier>
  <dcterms:modified xsi:type="dcterms:W3CDTF">2011-08-01T06:04:30Z</dcterms:modified>
  <cp:revision>1</cp:revision>
  <dc:title>Blue and White Futuristic Blockchain Presentation</dc:title>
</cp:coreProperties>
</file>